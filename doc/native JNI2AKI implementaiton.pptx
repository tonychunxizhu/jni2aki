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2"/>
    <p:sldMasterId id="2147483665" r:id="rId3"/>
    <p:sldMasterId id="2147483667" r:id="rId4"/>
    <p:sldMasterId id="2147483670" r:id="rId5"/>
    <p:sldMasterId id="2147483671" r:id="rId6"/>
  </p:sldMasterIdLst>
  <p:notesMasterIdLst>
    <p:notesMasterId r:id="rId17"/>
  </p:notesMasterIdLst>
  <p:sldIdLst>
    <p:sldId id="347" r:id="rId7"/>
    <p:sldId id="648" r:id="rId8"/>
    <p:sldId id="650" r:id="rId9"/>
    <p:sldId id="665" r:id="rId10"/>
    <p:sldId id="667" r:id="rId11"/>
    <p:sldId id="654" r:id="rId12"/>
    <p:sldId id="657" r:id="rId13"/>
    <p:sldId id="655" r:id="rId14"/>
    <p:sldId id="669" r:id="rId15"/>
    <p:sldId id="364" r:id="rId16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656" userDrawn="1">
          <p15:clr>
            <a:srgbClr val="A4A3A4"/>
          </p15:clr>
        </p15:guide>
        <p15:guide id="3" orient="horz" pos="6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66D"/>
    <a:srgbClr val="000000"/>
    <a:srgbClr val="31DE84"/>
    <a:srgbClr val="662799"/>
    <a:srgbClr val="492E9F"/>
    <a:srgbClr val="A80E87"/>
    <a:srgbClr val="FFC9D1"/>
    <a:srgbClr val="E27594"/>
    <a:srgbClr val="911BA9"/>
    <a:srgbClr val="FFAB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05" autoAdjust="0"/>
    <p:restoredTop sz="94272" autoAdjust="0"/>
  </p:normalViewPr>
  <p:slideViewPr>
    <p:cSldViewPr snapToGrid="0" showGuides="1">
      <p:cViewPr varScale="1">
        <p:scale>
          <a:sx n="94" d="100"/>
          <a:sy n="94" d="100"/>
        </p:scale>
        <p:origin x="69" y="201"/>
      </p:cViewPr>
      <p:guideLst>
        <p:guide orient="horz" pos="2160"/>
        <p:guide pos="4656"/>
        <p:guide orient="horz" pos="6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tags" Target="tags/tag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6843F3-2F81-45ED-BD0A-16E523A94E5A}" type="datetimeFigureOut">
              <a:rPr lang="zh-CN" altLang="en-US" smtClean="0"/>
              <a:t>2023/8/21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915D85-DF75-4E0C-B52E-D7167D41244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solidFill>
                  <a:prstClr val="black"/>
                </a:solidFill>
              </a:rPr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41" name="Picture 9" descr="Logo"/>
          <p:cNvPicPr preferRelativeResize="0"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11833" y="5589589"/>
            <a:ext cx="1018118" cy="763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042" name="Picture 10" descr="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" y="782638"/>
            <a:ext cx="12192000" cy="3810000"/>
          </a:xfrm>
          <a:prstGeom prst="rect">
            <a:avLst/>
          </a:prstGeom>
          <a:noFill/>
        </p:spPr>
      </p:pic>
      <p:sp>
        <p:nvSpPr>
          <p:cNvPr id="44047" name="Rectangle 15"/>
          <p:cNvSpPr>
            <a:spLocks noGrp="1" noChangeArrowheads="1"/>
          </p:cNvSpPr>
          <p:nvPr>
            <p:ph type="ctrTitle" sz="quarter"/>
          </p:nvPr>
        </p:nvSpPr>
        <p:spPr>
          <a:xfrm>
            <a:off x="848784" y="1392239"/>
            <a:ext cx="7071783" cy="1666875"/>
          </a:xfrm>
        </p:spPr>
        <p:txBody>
          <a:bodyPr/>
          <a:lstStyle>
            <a:lvl1pPr>
              <a:defRPr sz="51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4048" name="Rectangle 1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912285" y="3182939"/>
            <a:ext cx="7073900" cy="865187"/>
          </a:xfrm>
        </p:spPr>
        <p:txBody>
          <a:bodyPr lIns="95397" tIns="47698" rIns="95397" bIns="47698"/>
          <a:lstStyle>
            <a:lvl1pPr marL="0" indent="0">
              <a:buFont typeface="Wingdings" panose="05000000000000000000" pitchFamily="2" charset="2"/>
              <a:buNone/>
              <a:defRPr sz="33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4052" name="Text Box 20"/>
          <p:cNvSpPr txBox="1">
            <a:spLocks noChangeArrowheads="1"/>
          </p:cNvSpPr>
          <p:nvPr/>
        </p:nvSpPr>
        <p:spPr bwMode="auto">
          <a:xfrm>
            <a:off x="869952" y="6194425"/>
            <a:ext cx="3221884" cy="3116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95358" tIns="47680" rIns="95358" bIns="47680">
            <a:spAutoFit/>
          </a:bodyPr>
          <a:lstStyle/>
          <a:p>
            <a:pPr defTabSz="95440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solidFill>
                  <a:srgbClr val="000000"/>
                </a:solidFill>
                <a:ea typeface="MS PGothic" panose="020B0600070205080204" pitchFamily="34" charset="-128"/>
              </a:rPr>
              <a:t>HUAWEI TECHNOLOGIES CO., LTD.</a:t>
            </a:r>
          </a:p>
        </p:txBody>
      </p:sp>
      <p:sp>
        <p:nvSpPr>
          <p:cNvPr id="44054" name="Text Box 22"/>
          <p:cNvSpPr txBox="1">
            <a:spLocks noChangeArrowheads="1"/>
          </p:cNvSpPr>
          <p:nvPr/>
        </p:nvSpPr>
        <p:spPr bwMode="auto">
          <a:xfrm>
            <a:off x="9632952" y="4094163"/>
            <a:ext cx="1577566" cy="3116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95358" tIns="47680" rIns="95358" bIns="47680">
            <a:spAutoFit/>
          </a:bodyPr>
          <a:lstStyle/>
          <a:p>
            <a:pPr defTabSz="95440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solidFill>
                  <a:srgbClr val="FFFFFF"/>
                </a:solidFill>
                <a:ea typeface="MS PGothic" panose="020B0600070205080204" pitchFamily="34" charset="-128"/>
              </a:rPr>
              <a:t>www.huawei.com</a:t>
            </a:r>
          </a:p>
        </p:txBody>
      </p:sp>
      <p:sp>
        <p:nvSpPr>
          <p:cNvPr id="44055" name="Rectangle 23"/>
          <p:cNvSpPr>
            <a:spLocks noChangeArrowheads="1"/>
          </p:cNvSpPr>
          <p:nvPr/>
        </p:nvSpPr>
        <p:spPr bwMode="auto">
          <a:xfrm>
            <a:off x="5312834" y="6194425"/>
            <a:ext cx="1835864" cy="31163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95320" tIns="47657" rIns="95320" bIns="47657">
            <a:spAutoFit/>
          </a:bodyPr>
          <a:lstStyle/>
          <a:p>
            <a:pPr defTabSz="95440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solidFill>
                  <a:srgbClr val="000000"/>
                </a:solidFill>
                <a:ea typeface="MS PGothic" panose="020B0600070205080204" pitchFamily="34" charset="-128"/>
              </a:rPr>
              <a:t>Huawei Confidential </a:t>
            </a:r>
          </a:p>
        </p:txBody>
      </p:sp>
      <p:sp>
        <p:nvSpPr>
          <p:cNvPr id="44057" name="Rectangle 25"/>
          <p:cNvSpPr>
            <a:spLocks noChangeArrowheads="1"/>
          </p:cNvSpPr>
          <p:nvPr/>
        </p:nvSpPr>
        <p:spPr bwMode="auto">
          <a:xfrm>
            <a:off x="9057219" y="247650"/>
            <a:ext cx="1808608" cy="357794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95320" tIns="47657" rIns="95320" bIns="47657">
            <a:spAutoFit/>
          </a:bodyPr>
          <a:lstStyle/>
          <a:p>
            <a:pPr defTabSz="95440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700" b="1">
                <a:solidFill>
                  <a:srgbClr val="666666"/>
                </a:solidFill>
                <a:ea typeface="MS PGothic" panose="020B0600070205080204" pitchFamily="34" charset="-128"/>
              </a:rPr>
              <a:t>Security Level: </a:t>
            </a:r>
          </a:p>
        </p:txBody>
      </p:sp>
      <p:sp>
        <p:nvSpPr>
          <p:cNvPr id="44058" name="Rectangle 26"/>
          <p:cNvSpPr>
            <a:spLocks noGrp="1" noChangeArrowheads="1"/>
          </p:cNvSpPr>
          <p:nvPr>
            <p:ph type="dt" sz="quarter" idx="2"/>
          </p:nvPr>
        </p:nvSpPr>
        <p:spPr>
          <a:xfrm>
            <a:off x="912284" y="282576"/>
            <a:ext cx="2844800" cy="474663"/>
          </a:xfrm>
        </p:spPr>
        <p:txBody>
          <a:bodyPr lIns="95397" tIns="47698" rIns="95397" bIns="47698"/>
          <a:lstStyle>
            <a:lvl1pPr>
              <a:lnSpc>
                <a:spcPct val="100000"/>
              </a:lnSpc>
              <a:defRPr/>
            </a:lvl1pPr>
          </a:lstStyle>
          <a:p>
            <a:fld id="{A4F672E4-BA74-4CE6-84CE-196A551D5CF8}" type="datetime1">
              <a:rPr lang="zh-CN" altLang="en-US">
                <a:solidFill>
                  <a:srgbClr val="000000"/>
                </a:solidFill>
              </a:rPr>
              <a:t>2023/8/21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4098" name="Text Box 66"/>
          <p:cNvSpPr txBox="1">
            <a:spLocks noChangeArrowheads="1"/>
          </p:cNvSpPr>
          <p:nvPr/>
        </p:nvSpPr>
        <p:spPr bwMode="auto">
          <a:xfrm>
            <a:off x="-2624666" y="1322388"/>
            <a:ext cx="2624667" cy="434648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5375" tIns="47687" rIns="95375" bIns="47687">
            <a:spAutoFit/>
          </a:bodyPr>
          <a:lstStyle/>
          <a:p>
            <a:pPr algn="r" defTabSz="954405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300">
                <a:solidFill>
                  <a:srgbClr val="FFFFFF"/>
                </a:solidFill>
              </a:rPr>
              <a:t>英文标题</a:t>
            </a:r>
            <a:r>
              <a:rPr lang="en-US" altLang="zh-CN" sz="1300">
                <a:solidFill>
                  <a:srgbClr val="FFFFFF"/>
                </a:solidFill>
              </a:rPr>
              <a:t>:40-47pt  </a:t>
            </a:r>
          </a:p>
          <a:p>
            <a:pPr algn="r" defTabSz="954405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300">
                <a:solidFill>
                  <a:srgbClr val="FFFFFF"/>
                </a:solidFill>
              </a:rPr>
              <a:t>副标题</a:t>
            </a:r>
            <a:r>
              <a:rPr lang="en-US" altLang="zh-CN" sz="1300">
                <a:solidFill>
                  <a:srgbClr val="FFFFFF"/>
                </a:solidFill>
              </a:rPr>
              <a:t>:26-30pt</a:t>
            </a:r>
          </a:p>
          <a:p>
            <a:pPr algn="r" defTabSz="954405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300">
                <a:solidFill>
                  <a:srgbClr val="FFFFFF"/>
                </a:solidFill>
              </a:rPr>
              <a:t>字体颜色</a:t>
            </a:r>
            <a:r>
              <a:rPr lang="en-US" altLang="zh-CN" sz="1300">
                <a:solidFill>
                  <a:srgbClr val="FFFFFF"/>
                </a:solidFill>
              </a:rPr>
              <a:t>:</a:t>
            </a:r>
            <a:r>
              <a:rPr lang="zh-CN" altLang="en-US" sz="1300">
                <a:solidFill>
                  <a:srgbClr val="FFFFFF"/>
                </a:solidFill>
              </a:rPr>
              <a:t>反白</a:t>
            </a:r>
          </a:p>
          <a:p>
            <a:pPr algn="r" defTabSz="954405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300">
                <a:solidFill>
                  <a:srgbClr val="FFFFFF"/>
                </a:solidFill>
              </a:rPr>
              <a:t>内部使用字体 </a:t>
            </a:r>
            <a:r>
              <a:rPr lang="en-US" altLang="zh-CN" sz="1300">
                <a:solidFill>
                  <a:srgbClr val="FFFFFF"/>
                </a:solidFill>
              </a:rPr>
              <a:t>:</a:t>
            </a:r>
          </a:p>
          <a:p>
            <a:pPr algn="r" defTabSz="954405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300">
                <a:solidFill>
                  <a:srgbClr val="FFFFFF"/>
                </a:solidFill>
              </a:rPr>
              <a:t>FrutigerNext LT Medium</a:t>
            </a:r>
          </a:p>
          <a:p>
            <a:pPr algn="r" defTabSz="954405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300">
                <a:solidFill>
                  <a:srgbClr val="FFFFFF"/>
                </a:solidFill>
              </a:rPr>
              <a:t>外部使用字体 </a:t>
            </a:r>
            <a:r>
              <a:rPr lang="en-US" altLang="zh-CN" sz="1300">
                <a:solidFill>
                  <a:srgbClr val="FFFFFF"/>
                </a:solidFill>
              </a:rPr>
              <a:t>: Arial</a:t>
            </a:r>
          </a:p>
          <a:p>
            <a:pPr algn="r" defTabSz="954405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300">
              <a:solidFill>
                <a:srgbClr val="FFFFFF"/>
              </a:solidFill>
            </a:endParaRPr>
          </a:p>
          <a:p>
            <a:pPr algn="r" defTabSz="954405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300">
              <a:solidFill>
                <a:srgbClr val="FFFFFF"/>
              </a:solidFill>
            </a:endParaRPr>
          </a:p>
          <a:p>
            <a:pPr algn="r" defTabSz="954405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300">
                <a:solidFill>
                  <a:srgbClr val="FFFFFF"/>
                </a:solidFill>
              </a:rPr>
              <a:t>中文标题</a:t>
            </a:r>
            <a:r>
              <a:rPr lang="en-US" altLang="zh-CN" sz="1300">
                <a:solidFill>
                  <a:srgbClr val="FFFFFF"/>
                </a:solidFill>
              </a:rPr>
              <a:t>:35-47pt</a:t>
            </a:r>
          </a:p>
          <a:p>
            <a:pPr algn="r" defTabSz="954405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300">
                <a:solidFill>
                  <a:srgbClr val="FFFFFF"/>
                </a:solidFill>
              </a:rPr>
              <a:t>字体</a:t>
            </a:r>
            <a:r>
              <a:rPr lang="en-US" altLang="zh-CN" sz="1300">
                <a:solidFill>
                  <a:srgbClr val="FFFFFF"/>
                </a:solidFill>
              </a:rPr>
              <a:t>:</a:t>
            </a:r>
            <a:r>
              <a:rPr lang="zh-CN" altLang="en-US" sz="1300">
                <a:solidFill>
                  <a:srgbClr val="FFFFFF"/>
                </a:solidFill>
              </a:rPr>
              <a:t>黑体</a:t>
            </a:r>
          </a:p>
          <a:p>
            <a:pPr algn="r" defTabSz="954405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300">
                <a:solidFill>
                  <a:srgbClr val="FFFFFF"/>
                </a:solidFill>
              </a:rPr>
              <a:t>  </a:t>
            </a:r>
            <a:r>
              <a:rPr lang="zh-CN" altLang="en-US" sz="1300">
                <a:solidFill>
                  <a:srgbClr val="FFFFFF"/>
                </a:solidFill>
              </a:rPr>
              <a:t>副标题</a:t>
            </a:r>
            <a:r>
              <a:rPr lang="en-US" altLang="zh-CN" sz="1300">
                <a:solidFill>
                  <a:srgbClr val="FFFFFF"/>
                </a:solidFill>
              </a:rPr>
              <a:t>:24-28pt</a:t>
            </a:r>
          </a:p>
          <a:p>
            <a:pPr algn="r" defTabSz="954405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300">
                <a:solidFill>
                  <a:srgbClr val="FFFFFF"/>
                </a:solidFill>
              </a:rPr>
              <a:t>字体颜色</a:t>
            </a:r>
            <a:r>
              <a:rPr lang="en-US" altLang="zh-CN" sz="1300">
                <a:solidFill>
                  <a:srgbClr val="FFFFFF"/>
                </a:solidFill>
              </a:rPr>
              <a:t>:</a:t>
            </a:r>
            <a:r>
              <a:rPr lang="zh-CN" altLang="en-US" sz="1300">
                <a:solidFill>
                  <a:srgbClr val="FFFFFF"/>
                </a:solidFill>
              </a:rPr>
              <a:t>反白</a:t>
            </a:r>
          </a:p>
          <a:p>
            <a:pPr algn="r" defTabSz="954405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300">
                <a:solidFill>
                  <a:srgbClr val="FFFFFF"/>
                </a:solidFill>
              </a:rPr>
              <a:t>字体</a:t>
            </a:r>
            <a:r>
              <a:rPr lang="en-US" altLang="zh-CN" sz="1300">
                <a:solidFill>
                  <a:srgbClr val="FFFFFF"/>
                </a:solidFill>
              </a:rPr>
              <a:t>:</a:t>
            </a:r>
            <a:r>
              <a:rPr lang="zh-CN" altLang="en-US" sz="1300">
                <a:solidFill>
                  <a:srgbClr val="FFFFFF"/>
                </a:solidFill>
              </a:rPr>
              <a:t>细黑体</a:t>
            </a:r>
          </a:p>
          <a:p>
            <a:pPr algn="r" defTabSz="954405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300">
              <a:solidFill>
                <a:srgbClr val="FFFFFF"/>
              </a:solidFill>
            </a:endParaRPr>
          </a:p>
          <a:p>
            <a:pPr algn="r" defTabSz="954405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300">
              <a:solidFill>
                <a:srgbClr val="FFFFFF"/>
              </a:solidFill>
            </a:endParaRPr>
          </a:p>
          <a:p>
            <a:pPr algn="r" defTabSz="954405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300">
              <a:solidFill>
                <a:srgbClr val="FFFFFF"/>
              </a:solidFill>
            </a:endParaRPr>
          </a:p>
          <a:p>
            <a:pPr algn="r" defTabSz="954405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30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4261" y="83710"/>
            <a:ext cx="11386686" cy="638185"/>
          </a:xfrm>
        </p:spPr>
        <p:txBody>
          <a:bodyPr/>
          <a:lstStyle>
            <a:lvl1pPr>
              <a:defRPr sz="28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481485" y="6489701"/>
            <a:ext cx="1256875" cy="265531"/>
          </a:xfrm>
        </p:spPr>
        <p:txBody>
          <a:bodyPr/>
          <a:lstStyle>
            <a:lvl1pPr>
              <a:defRPr/>
            </a:lvl1pPr>
          </a:lstStyle>
          <a:p>
            <a:r>
              <a:rPr lang="de-DE">
                <a:solidFill>
                  <a:srgbClr val="000000"/>
                </a:solidFill>
              </a:rPr>
              <a:t>Page </a:t>
            </a:r>
            <a:fld id="{3AE68313-F76E-48D3-9063-068DC072EBF0}" type="slidenum">
              <a:rPr lang="de-DE">
                <a:solidFill>
                  <a:srgbClr val="000000"/>
                </a:solidFill>
              </a:rPr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>
                <a:solidFill>
                  <a:srgbClr val="000000"/>
                </a:solidFill>
                <a:ea typeface="MS PGothic" panose="020B0600070205080204" pitchFamily="34" charset="-128"/>
              </a:rPr>
              <a:t>Page </a:t>
            </a:r>
            <a:fld id="{351ED130-2C62-4880-926B-7D9666288372}" type="slidenum">
              <a:rPr lang="de-DE" smtClean="0">
                <a:solidFill>
                  <a:srgbClr val="000000"/>
                </a:solidFill>
                <a:ea typeface="MS PGothic" panose="020B0600070205080204" pitchFamily="34" charset="-128"/>
              </a:rPr>
              <a:t>‹#›</a:t>
            </a:fld>
            <a:endParaRPr lang="en-GB">
              <a:solidFill>
                <a:srgbClr val="000000"/>
              </a:solidFill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4406900"/>
            <a:ext cx="10363200" cy="1362075"/>
          </a:xfrm>
        </p:spPr>
        <p:txBody>
          <a:bodyPr anchor="t"/>
          <a:lstStyle>
            <a:lvl1pPr algn="l">
              <a:defRPr sz="48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2906714"/>
            <a:ext cx="10363200" cy="1500187"/>
          </a:xfrm>
        </p:spPr>
        <p:txBody>
          <a:bodyPr anchor="b"/>
          <a:lstStyle>
            <a:lvl1pPr marL="0" indent="0">
              <a:buNone/>
              <a:defRPr sz="2400"/>
            </a:lvl1pPr>
            <a:lvl2pPr marL="544195" indent="0">
              <a:buNone/>
              <a:defRPr sz="2100"/>
            </a:lvl2pPr>
            <a:lvl3pPr marL="1088390" indent="0">
              <a:buNone/>
              <a:defRPr sz="1900"/>
            </a:lvl3pPr>
            <a:lvl4pPr marL="1632585" indent="0">
              <a:buNone/>
              <a:defRPr sz="1700"/>
            </a:lvl4pPr>
            <a:lvl5pPr marL="2176780" indent="0">
              <a:buNone/>
              <a:defRPr sz="1700"/>
            </a:lvl5pPr>
            <a:lvl6pPr marL="2720975" indent="0">
              <a:buNone/>
              <a:defRPr sz="1700"/>
            </a:lvl6pPr>
            <a:lvl7pPr marL="3264535" indent="0">
              <a:buNone/>
              <a:defRPr sz="1700"/>
            </a:lvl7pPr>
            <a:lvl8pPr marL="3808730" indent="0">
              <a:buNone/>
              <a:defRPr sz="1700"/>
            </a:lvl8pPr>
            <a:lvl9pPr marL="4352925" indent="0">
              <a:buNone/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>
                <a:solidFill>
                  <a:srgbClr val="000000"/>
                </a:solidFill>
              </a:rPr>
              <a:t>Page </a:t>
            </a:r>
            <a:fld id="{A0D36A90-5671-4199-A8CE-FF3AB8A9354B}" type="slidenum">
              <a:rPr lang="de-DE">
                <a:solidFill>
                  <a:srgbClr val="000000"/>
                </a:solidFill>
              </a:rPr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69952" y="1641476"/>
            <a:ext cx="5183716" cy="4194175"/>
          </a:xfrm>
        </p:spPr>
        <p:txBody>
          <a:bodyPr/>
          <a:lstStyle>
            <a:lvl1pPr>
              <a:defRPr sz="3300"/>
            </a:lvl1pPr>
            <a:lvl2pPr>
              <a:defRPr sz="29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56867" y="1641476"/>
            <a:ext cx="5185833" cy="4194175"/>
          </a:xfrm>
        </p:spPr>
        <p:txBody>
          <a:bodyPr/>
          <a:lstStyle>
            <a:lvl1pPr>
              <a:defRPr sz="3300"/>
            </a:lvl1pPr>
            <a:lvl2pPr>
              <a:defRPr sz="29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>
                <a:solidFill>
                  <a:srgbClr val="000000"/>
                </a:solidFill>
              </a:rPr>
              <a:t>Page </a:t>
            </a:r>
            <a:fld id="{09DBE9C2-667D-4C8F-8B19-92A88FDD8797}" type="slidenum">
              <a:rPr lang="de-DE">
                <a:solidFill>
                  <a:srgbClr val="000000"/>
                </a:solidFill>
              </a:rPr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900" b="1"/>
            </a:lvl1pPr>
            <a:lvl2pPr marL="544195" indent="0">
              <a:buNone/>
              <a:defRPr sz="2400" b="1"/>
            </a:lvl2pPr>
            <a:lvl3pPr marL="1088390" indent="0">
              <a:buNone/>
              <a:defRPr sz="2100" b="1"/>
            </a:lvl3pPr>
            <a:lvl4pPr marL="1632585" indent="0">
              <a:buNone/>
              <a:defRPr sz="1900" b="1"/>
            </a:lvl4pPr>
            <a:lvl5pPr marL="2176780" indent="0">
              <a:buNone/>
              <a:defRPr sz="1900" b="1"/>
            </a:lvl5pPr>
            <a:lvl6pPr marL="2720975" indent="0">
              <a:buNone/>
              <a:defRPr sz="1900" b="1"/>
            </a:lvl6pPr>
            <a:lvl7pPr marL="3264535" indent="0">
              <a:buNone/>
              <a:defRPr sz="1900" b="1"/>
            </a:lvl7pPr>
            <a:lvl8pPr marL="3808730" indent="0">
              <a:buNone/>
              <a:defRPr sz="1900" b="1"/>
            </a:lvl8pPr>
            <a:lvl9pPr marL="4352925" indent="0">
              <a:buNone/>
              <a:defRPr sz="19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6"/>
            <a:ext cx="5386917" cy="3951288"/>
          </a:xfrm>
        </p:spPr>
        <p:txBody>
          <a:bodyPr/>
          <a:lstStyle>
            <a:lvl1pPr>
              <a:defRPr sz="2900"/>
            </a:lvl1pPr>
            <a:lvl2pPr>
              <a:defRPr sz="24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900" b="1"/>
            </a:lvl1pPr>
            <a:lvl2pPr marL="544195" indent="0">
              <a:buNone/>
              <a:defRPr sz="2400" b="1"/>
            </a:lvl2pPr>
            <a:lvl3pPr marL="1088390" indent="0">
              <a:buNone/>
              <a:defRPr sz="2100" b="1"/>
            </a:lvl3pPr>
            <a:lvl4pPr marL="1632585" indent="0">
              <a:buNone/>
              <a:defRPr sz="1900" b="1"/>
            </a:lvl4pPr>
            <a:lvl5pPr marL="2176780" indent="0">
              <a:buNone/>
              <a:defRPr sz="1900" b="1"/>
            </a:lvl5pPr>
            <a:lvl6pPr marL="2720975" indent="0">
              <a:buNone/>
              <a:defRPr sz="1900" b="1"/>
            </a:lvl6pPr>
            <a:lvl7pPr marL="3264535" indent="0">
              <a:buNone/>
              <a:defRPr sz="1900" b="1"/>
            </a:lvl7pPr>
            <a:lvl8pPr marL="3808730" indent="0">
              <a:buNone/>
              <a:defRPr sz="1900" b="1"/>
            </a:lvl8pPr>
            <a:lvl9pPr marL="4352925" indent="0">
              <a:buNone/>
              <a:defRPr sz="19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6"/>
            <a:ext cx="5389033" cy="3951288"/>
          </a:xfrm>
        </p:spPr>
        <p:txBody>
          <a:bodyPr/>
          <a:lstStyle>
            <a:lvl1pPr>
              <a:defRPr sz="2900"/>
            </a:lvl1pPr>
            <a:lvl2pPr>
              <a:defRPr sz="24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>
                <a:solidFill>
                  <a:srgbClr val="000000"/>
                </a:solidFill>
              </a:rPr>
              <a:t>Page </a:t>
            </a:r>
            <a:fld id="{DFAEF953-63BC-4ECB-978A-70A776284395}" type="slidenum">
              <a:rPr lang="de-DE">
                <a:solidFill>
                  <a:srgbClr val="000000"/>
                </a:solidFill>
              </a:rPr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>
                <a:solidFill>
                  <a:srgbClr val="000000"/>
                </a:solidFill>
              </a:rPr>
              <a:t>Page </a:t>
            </a:r>
            <a:fld id="{69305362-3632-4550-9853-D0B872229F5F}" type="slidenum">
              <a:rPr lang="de-DE">
                <a:solidFill>
                  <a:srgbClr val="000000"/>
                </a:solidFill>
              </a:rPr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>
                <a:solidFill>
                  <a:srgbClr val="000000"/>
                </a:solidFill>
              </a:rPr>
              <a:t>Page </a:t>
            </a:r>
            <a:fld id="{DB16619A-4C35-47B8-B624-743973718D14}" type="slidenum">
              <a:rPr lang="de-DE">
                <a:solidFill>
                  <a:srgbClr val="000000"/>
                </a:solidFill>
              </a:rPr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4" y="273051"/>
            <a:ext cx="6815666" cy="5853113"/>
          </a:xfrm>
        </p:spPr>
        <p:txBody>
          <a:bodyPr/>
          <a:lstStyle>
            <a:lvl1pPr>
              <a:defRPr sz="3800"/>
            </a:lvl1pPr>
            <a:lvl2pPr>
              <a:defRPr sz="3300"/>
            </a:lvl2pPr>
            <a:lvl3pPr>
              <a:defRPr sz="29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1"/>
            <a:ext cx="4011084" cy="4691063"/>
          </a:xfrm>
        </p:spPr>
        <p:txBody>
          <a:bodyPr/>
          <a:lstStyle>
            <a:lvl1pPr marL="0" indent="0">
              <a:buNone/>
              <a:defRPr sz="1700"/>
            </a:lvl1pPr>
            <a:lvl2pPr marL="544195" indent="0">
              <a:buNone/>
              <a:defRPr sz="1400"/>
            </a:lvl2pPr>
            <a:lvl3pPr marL="1088390" indent="0">
              <a:buNone/>
              <a:defRPr sz="1200"/>
            </a:lvl3pPr>
            <a:lvl4pPr marL="1632585" indent="0">
              <a:buNone/>
              <a:defRPr sz="1100"/>
            </a:lvl4pPr>
            <a:lvl5pPr marL="2176780" indent="0">
              <a:buNone/>
              <a:defRPr sz="1100"/>
            </a:lvl5pPr>
            <a:lvl6pPr marL="2720975" indent="0">
              <a:buNone/>
              <a:defRPr sz="1100"/>
            </a:lvl6pPr>
            <a:lvl7pPr marL="3264535" indent="0">
              <a:buNone/>
              <a:defRPr sz="1100"/>
            </a:lvl7pPr>
            <a:lvl8pPr marL="3808730" indent="0">
              <a:buNone/>
              <a:defRPr sz="1100"/>
            </a:lvl8pPr>
            <a:lvl9pPr marL="4352925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>
                <a:solidFill>
                  <a:srgbClr val="000000"/>
                </a:solidFill>
              </a:rPr>
              <a:t>Page </a:t>
            </a:r>
            <a:fld id="{301025B3-7358-4FFF-923E-294C2A75D116}" type="slidenum">
              <a:rPr lang="de-DE">
                <a:solidFill>
                  <a:srgbClr val="000000"/>
                </a:solidFill>
              </a:rPr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6"/>
            <a:ext cx="7315200" cy="4114800"/>
          </a:xfrm>
        </p:spPr>
        <p:txBody>
          <a:bodyPr/>
          <a:lstStyle>
            <a:lvl1pPr marL="0" indent="0">
              <a:buNone/>
              <a:defRPr sz="3800"/>
            </a:lvl1pPr>
            <a:lvl2pPr marL="544195" indent="0">
              <a:buNone/>
              <a:defRPr sz="3300"/>
            </a:lvl2pPr>
            <a:lvl3pPr marL="1088390" indent="0">
              <a:buNone/>
              <a:defRPr sz="2900"/>
            </a:lvl3pPr>
            <a:lvl4pPr marL="1632585" indent="0">
              <a:buNone/>
              <a:defRPr sz="2400"/>
            </a:lvl4pPr>
            <a:lvl5pPr marL="2176780" indent="0">
              <a:buNone/>
              <a:defRPr sz="2400"/>
            </a:lvl5pPr>
            <a:lvl6pPr marL="2720975" indent="0">
              <a:buNone/>
              <a:defRPr sz="2400"/>
            </a:lvl6pPr>
            <a:lvl7pPr marL="3264535" indent="0">
              <a:buNone/>
              <a:defRPr sz="2400"/>
            </a:lvl7pPr>
            <a:lvl8pPr marL="3808730" indent="0">
              <a:buNone/>
              <a:defRPr sz="2400"/>
            </a:lvl8pPr>
            <a:lvl9pPr marL="4352925" indent="0">
              <a:buNone/>
              <a:defRPr sz="24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700"/>
            </a:lvl1pPr>
            <a:lvl2pPr marL="544195" indent="0">
              <a:buNone/>
              <a:defRPr sz="1400"/>
            </a:lvl2pPr>
            <a:lvl3pPr marL="1088390" indent="0">
              <a:buNone/>
              <a:defRPr sz="1200"/>
            </a:lvl3pPr>
            <a:lvl4pPr marL="1632585" indent="0">
              <a:buNone/>
              <a:defRPr sz="1100"/>
            </a:lvl4pPr>
            <a:lvl5pPr marL="2176780" indent="0">
              <a:buNone/>
              <a:defRPr sz="1100"/>
            </a:lvl5pPr>
            <a:lvl6pPr marL="2720975" indent="0">
              <a:buNone/>
              <a:defRPr sz="1100"/>
            </a:lvl6pPr>
            <a:lvl7pPr marL="3264535" indent="0">
              <a:buNone/>
              <a:defRPr sz="1100"/>
            </a:lvl7pPr>
            <a:lvl8pPr marL="3808730" indent="0">
              <a:buNone/>
              <a:defRPr sz="1100"/>
            </a:lvl8pPr>
            <a:lvl9pPr marL="4352925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>
                <a:solidFill>
                  <a:srgbClr val="000000"/>
                </a:solidFill>
              </a:rPr>
              <a:t>Page </a:t>
            </a:r>
            <a:fld id="{12BB9463-C79A-4233-922E-F8EE8A31F24F}" type="slidenum">
              <a:rPr lang="de-DE">
                <a:solidFill>
                  <a:srgbClr val="000000"/>
                </a:solidFill>
              </a:rPr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>
                <a:solidFill>
                  <a:srgbClr val="000000"/>
                </a:solidFill>
              </a:rPr>
              <a:t>Page </a:t>
            </a:r>
            <a:fld id="{ABF7B834-012B-42C7-9438-44159A8E5D22}" type="slidenum">
              <a:rPr lang="de-DE">
                <a:solidFill>
                  <a:srgbClr val="000000"/>
                </a:solidFill>
              </a:rPr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01100" y="430214"/>
            <a:ext cx="2641600" cy="54054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69952" y="430214"/>
            <a:ext cx="7727949" cy="540543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>
                <a:solidFill>
                  <a:srgbClr val="000000"/>
                </a:solidFill>
              </a:rPr>
              <a:t>Page </a:t>
            </a:r>
            <a:fld id="{21154683-2BF8-4D67-9463-758128406A8C}" type="slidenum">
              <a:rPr lang="de-DE">
                <a:solidFill>
                  <a:srgbClr val="000000"/>
                </a:solidFill>
              </a:rPr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9950" y="430214"/>
            <a:ext cx="10327216" cy="871537"/>
          </a:xfrm>
        </p:spPr>
        <p:txBody>
          <a:bodyPr/>
          <a:lstStyle>
            <a:lvl1pPr>
              <a:defRPr sz="3300" b="1" i="0" baseline="0">
                <a:ea typeface="Arial Unicode MS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69952" y="1641476"/>
            <a:ext cx="5183716" cy="41941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56867" y="1641476"/>
            <a:ext cx="5185833" cy="41941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481485" y="6489700"/>
            <a:ext cx="2796116" cy="455613"/>
          </a:xfrm>
        </p:spPr>
        <p:txBody>
          <a:bodyPr/>
          <a:lstStyle>
            <a:lvl1pPr>
              <a:defRPr/>
            </a:lvl1pPr>
          </a:lstStyle>
          <a:p>
            <a:r>
              <a:rPr lang="de-DE">
                <a:solidFill>
                  <a:srgbClr val="000000"/>
                </a:solidFill>
              </a:rPr>
              <a:t>Page </a:t>
            </a:r>
            <a:fld id="{5E57648A-1AA5-4AEC-98D7-2DC498593636}" type="slidenum">
              <a:rPr lang="de-DE">
                <a:solidFill>
                  <a:srgbClr val="000000"/>
                </a:solidFill>
              </a:rPr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9950" y="430214"/>
            <a:ext cx="10327216" cy="871537"/>
          </a:xfrm>
        </p:spPr>
        <p:txBody>
          <a:bodyPr/>
          <a:lstStyle>
            <a:lvl1pPr>
              <a:defRPr sz="3300" b="1" i="0" baseline="0">
                <a:ea typeface="Arial Unicode MS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869951" y="1641476"/>
            <a:ext cx="10572749" cy="41941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481485" y="6489700"/>
            <a:ext cx="2796116" cy="455613"/>
          </a:xfrm>
        </p:spPr>
        <p:txBody>
          <a:bodyPr/>
          <a:lstStyle>
            <a:lvl1pPr>
              <a:defRPr/>
            </a:lvl1pPr>
          </a:lstStyle>
          <a:p>
            <a:r>
              <a:rPr lang="de-DE">
                <a:solidFill>
                  <a:srgbClr val="000000"/>
                </a:solidFill>
              </a:rPr>
              <a:t>Page </a:t>
            </a:r>
            <a:fld id="{AFD8BD73-0588-4816-8EFB-145C34F77267}" type="slidenum">
              <a:rPr lang="de-DE">
                <a:solidFill>
                  <a:srgbClr val="000000"/>
                </a:solidFill>
              </a:rPr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 userDrawn="1"/>
        </p:nvSpPr>
        <p:spPr>
          <a:xfrm>
            <a:off x="607249" y="1402065"/>
            <a:ext cx="3919503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4800" dirty="0">
                <a:solidFill>
                  <a:srgbClr val="1D1D1A"/>
                </a:solidFill>
              </a:rPr>
              <a:t>Thank you.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725" indent="0" algn="ctr">
              <a:buNone/>
              <a:defRPr sz="2595"/>
            </a:lvl2pPr>
            <a:lvl3pPr marL="1187450" indent="0" algn="ctr">
              <a:buNone/>
              <a:defRPr sz="2335"/>
            </a:lvl3pPr>
            <a:lvl4pPr marL="1781175" indent="0" algn="ctr">
              <a:buNone/>
              <a:defRPr sz="2080"/>
            </a:lvl4pPr>
            <a:lvl5pPr marL="2374900" indent="0" algn="ctr">
              <a:buNone/>
              <a:defRPr sz="2080"/>
            </a:lvl5pPr>
            <a:lvl6pPr marL="2968625" indent="0" algn="ctr">
              <a:buNone/>
              <a:defRPr sz="2080"/>
            </a:lvl6pPr>
            <a:lvl7pPr marL="3561715" indent="0" algn="ctr">
              <a:buNone/>
              <a:defRPr sz="2080"/>
            </a:lvl7pPr>
            <a:lvl8pPr marL="4155440" indent="0" algn="ctr">
              <a:buNone/>
              <a:defRPr sz="2080"/>
            </a:lvl8pPr>
            <a:lvl9pPr marL="4749165" indent="0" algn="ctr">
              <a:buNone/>
              <a:defRPr sz="2080"/>
            </a:lvl9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25739" y="1501989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7770" algn="ctr"/>
              </a:tabLst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780" indent="-170815">
              <a:buFont typeface="Arial" panose="020B0604020202020204" pitchFamily="34" charset="0"/>
              <a:buChar char="•"/>
              <a:tabLst>
                <a:tab pos="1207770" algn="ctr"/>
              </a:tabLst>
              <a:defRPr sz="1300" baseline="0"/>
            </a:lvl2pPr>
            <a:lvl3pPr marL="525780" indent="-170815">
              <a:buFont typeface="Arial" panose="020B0604020202020204" pitchFamily="34" charset="0"/>
              <a:buChar char="•"/>
              <a:tabLst>
                <a:tab pos="1207770" algn="ctr"/>
              </a:tabLst>
              <a:defRPr sz="1300" baseline="0"/>
            </a:lvl3pPr>
            <a:lvl4pPr marL="525780" indent="-170815">
              <a:buFont typeface="Arial" panose="020B0604020202020204" pitchFamily="34" charset="0"/>
              <a:buChar char="•"/>
              <a:tabLst>
                <a:tab pos="1207770" algn="ctr"/>
              </a:tabLst>
              <a:defRPr sz="1300" baseline="0"/>
            </a:lvl4pPr>
            <a:lvl5pPr marL="525780" indent="-170815">
              <a:buFont typeface="Arial" panose="020B0604020202020204" pitchFamily="34" charset="0"/>
              <a:buChar char="•"/>
              <a:tabLst>
                <a:tab pos="1207770" algn="ctr"/>
              </a:tabLst>
              <a:defRPr sz="1300" baseline="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07534" y="325440"/>
            <a:ext cx="10176933" cy="871537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07534" y="1628777"/>
            <a:ext cx="10176933" cy="4194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9950" y="430216"/>
            <a:ext cx="10327216" cy="871537"/>
          </a:xfrm>
          <a:prstGeom prst="rect">
            <a:avLst/>
          </a:prstGeom>
        </p:spPr>
        <p:txBody>
          <a:bodyPr/>
          <a:lstStyle>
            <a:lvl1pPr>
              <a:defRPr sz="3300" b="1" i="0" baseline="0">
                <a:ea typeface="Arial Unicode MS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69953" y="1641478"/>
            <a:ext cx="5183716" cy="4194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56868" y="1641478"/>
            <a:ext cx="5185833" cy="4194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481485" y="6489702"/>
            <a:ext cx="2796116" cy="4556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914400"/>
            <a:r>
              <a:rPr lang="de-DE">
                <a:solidFill>
                  <a:srgbClr val="000000"/>
                </a:solidFill>
              </a:rPr>
              <a:t>Page </a:t>
            </a:r>
            <a:fld id="{5E57648A-1AA5-4AEC-98D7-2DC498593636}" type="slidenum">
              <a:rPr lang="de-DE" smtClean="0">
                <a:solidFill>
                  <a:srgbClr val="000000"/>
                </a:solidFill>
              </a:rPr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1"/>
            <a:ext cx="12192000" cy="560226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0738" y="2130702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kumimoji="1" lang="zh-CN" altLang="en-US" sz="900">
              <a:solidFill>
                <a:srgbClr val="1D1D1A"/>
              </a:solidFill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646" y="907093"/>
            <a:ext cx="6557247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8897" y="1949372"/>
            <a:ext cx="6533290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1"/>
            <a:ext cx="12192000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1614" y="2568775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kumimoji="1" lang="zh-CN" altLang="en-US" sz="900">
              <a:solidFill>
                <a:srgbClr val="1D1D1A"/>
              </a:solidFill>
            </a:endParaRPr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646" y="907093"/>
            <a:ext cx="6557247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8897" y="1949372"/>
            <a:ext cx="6533290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灯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32" b="14078"/>
          <a:stretch>
            <a:fillRect/>
          </a:stretch>
        </p:blipFill>
        <p:spPr>
          <a:xfrm>
            <a:off x="0" y="1"/>
            <a:ext cx="12192233" cy="5602265"/>
          </a:xfrm>
          <a:prstGeom prst="rect">
            <a:avLst/>
          </a:prstGeom>
        </p:spPr>
      </p:pic>
      <p:sp>
        <p:nvSpPr>
          <p:cNvPr id="10" name="L 形 10"/>
          <p:cNvSpPr/>
          <p:nvPr userDrawn="1"/>
        </p:nvSpPr>
        <p:spPr>
          <a:xfrm rot="5400000">
            <a:off x="7878156" y="1995888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kumimoji="1" lang="zh-CN" altLang="en-US" sz="900">
              <a:solidFill>
                <a:srgbClr val="1D1D1A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898646" y="907093"/>
            <a:ext cx="6557247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8897" y="1949372"/>
            <a:ext cx="6533290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1"/>
            <a:ext cx="12192000" cy="5602265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3057" y="2323659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kumimoji="1" lang="zh-CN" altLang="en-US" sz="900">
              <a:solidFill>
                <a:srgbClr val="1D1D1A"/>
              </a:solidFill>
            </a:endParaRPr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646" y="907093"/>
            <a:ext cx="6557247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8897" y="1949372"/>
            <a:ext cx="6533290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领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-3"/>
            <a:ext cx="12191999" cy="560226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6112" y="907582"/>
            <a:ext cx="7237320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lnSpc>
                <a:spcPts val="3440"/>
              </a:lnSpc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10800000">
            <a:off x="10498794" y="1522948"/>
            <a:ext cx="717656" cy="701032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kumimoji="1" lang="zh-CN" altLang="en-US" sz="900">
              <a:solidFill>
                <a:srgbClr val="1D1D1A"/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8897" y="1949372"/>
            <a:ext cx="7204534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>
            <a:fillRect/>
          </a:stretch>
        </p:blipFill>
        <p:spPr>
          <a:xfrm>
            <a:off x="1" y="-36206"/>
            <a:ext cx="12192000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646" y="907093"/>
            <a:ext cx="6557247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6733" y="1657695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kumimoji="1" lang="zh-CN" altLang="en-US" sz="900">
              <a:solidFill>
                <a:srgbClr val="1D1D1A"/>
              </a:solidFill>
            </a:endParaRP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8897" y="1949372"/>
            <a:ext cx="6533290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9951" y="430215"/>
            <a:ext cx="10327216" cy="871537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69952" y="1641475"/>
            <a:ext cx="5183716" cy="41941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56868" y="1641475"/>
            <a:ext cx="5185833" cy="41941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481484" y="6489702"/>
            <a:ext cx="2796116" cy="4556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914400"/>
            <a:r>
              <a:rPr lang="de-DE">
                <a:solidFill>
                  <a:srgbClr val="1D1D1A"/>
                </a:solidFill>
              </a:rPr>
              <a:t>Page </a:t>
            </a:r>
            <a:fld id="{A1BA5620-6594-45A2-9432-61507ABA5C1D}" type="slidenum">
              <a:rPr lang="de-DE" smtClean="0">
                <a:solidFill>
                  <a:srgbClr val="1D1D1A"/>
                </a:solidFill>
              </a:rPr>
              <a:t>‹#›</a:t>
            </a:fld>
            <a:endParaRPr lang="en-GB">
              <a:solidFill>
                <a:srgbClr val="1D1D1A"/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9951" y="430215"/>
            <a:ext cx="10327216" cy="871537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481484" y="6489702"/>
            <a:ext cx="2796116" cy="4556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914400"/>
            <a:r>
              <a:rPr lang="de-DE">
                <a:solidFill>
                  <a:srgbClr val="1D1D1A"/>
                </a:solidFill>
              </a:rPr>
              <a:t>Page </a:t>
            </a:r>
            <a:fld id="{236D1B7F-3E4A-4A4B-B693-206572608DA5}" type="slidenum">
              <a:rPr lang="de-DE" smtClean="0">
                <a:solidFill>
                  <a:srgbClr val="1D1D1A"/>
                </a:solidFill>
              </a:rPr>
              <a:t>‹#›</a:t>
            </a:fld>
            <a:endParaRPr lang="en-GB">
              <a:solidFill>
                <a:srgbClr val="1D1D1A"/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9417" y="274575"/>
            <a:ext cx="10973117" cy="1142736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82423" y="1599834"/>
            <a:ext cx="5410379" cy="452491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45162" y="1599834"/>
            <a:ext cx="5410379" cy="452491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2" y="456135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2570"/>
              </a:lnSpc>
              <a:spcBef>
                <a:spcPts val="0"/>
              </a:spcBef>
              <a:buNone/>
              <a:defRPr sz="24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45135" indent="0" algn="ctr">
              <a:buNone/>
              <a:defRPr sz="1945"/>
            </a:lvl2pPr>
            <a:lvl3pPr marL="890270" indent="0" algn="ctr">
              <a:buNone/>
              <a:defRPr sz="1750"/>
            </a:lvl3pPr>
            <a:lvl4pPr marL="1335405" indent="0" algn="ctr">
              <a:buNone/>
              <a:defRPr sz="1560"/>
            </a:lvl4pPr>
            <a:lvl5pPr marL="1780540" indent="0" algn="ctr">
              <a:buNone/>
              <a:defRPr sz="1560"/>
            </a:lvl5pPr>
            <a:lvl6pPr marL="2225040" indent="0" algn="ctr">
              <a:buNone/>
              <a:defRPr sz="1560"/>
            </a:lvl6pPr>
            <a:lvl7pPr marL="2670175" indent="0" algn="ctr">
              <a:buNone/>
              <a:defRPr sz="1560"/>
            </a:lvl7pPr>
            <a:lvl8pPr marL="3115310" indent="0" algn="ctr">
              <a:buNone/>
              <a:defRPr sz="1560"/>
            </a:lvl8pPr>
            <a:lvl9pPr marL="3560445" indent="0" algn="ctr">
              <a:buNone/>
              <a:defRPr sz="156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5740" y="1512878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34620" marR="0" indent="-126365" algn="l" defTabSz="8902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904875" algn="ctr"/>
              </a:tabLst>
              <a:defRPr sz="135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246380" marR="0" indent="-126365" algn="l" defTabSz="8902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904875" algn="ctr"/>
              </a:tabLst>
              <a:defRPr sz="12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822960" marR="0" indent="-126365" algn="l" defTabSz="8902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904875" algn="ctr"/>
              </a:tabLst>
              <a:defRPr sz="975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394335" indent="-128270">
              <a:buFont typeface="Arial" panose="020B0604020202020204" pitchFamily="34" charset="0"/>
              <a:buChar char="•"/>
              <a:tabLst>
                <a:tab pos="905510" algn="ctr"/>
              </a:tabLst>
              <a:defRPr sz="975" baseline="0"/>
            </a:lvl4pPr>
            <a:lvl5pPr marL="394335" indent="-128270">
              <a:buFont typeface="Arial" panose="020B0604020202020204" pitchFamily="34" charset="0"/>
              <a:buChar char="•"/>
              <a:tabLst>
                <a:tab pos="905510" algn="ctr"/>
              </a:tabLst>
              <a:defRPr sz="97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246380" marR="0" lvl="1" indent="-126365" algn="l" defTabSz="8902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90487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822960" marR="0" lvl="2" indent="-126365" algn="l" defTabSz="8902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90487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822960" marR="0" lvl="2" indent="-126365" algn="l" defTabSz="8902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904875" algn="ctr"/>
              </a:tabLst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527052" y="44451"/>
            <a:ext cx="10915650" cy="579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5280237" y="6453967"/>
            <a:ext cx="1409280" cy="1102179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pPr defTabSz="914400">
              <a:defRPr/>
            </a:pPr>
            <a:r>
              <a:rPr lang="de-DE" altLang="zh-CN">
                <a:solidFill>
                  <a:srgbClr val="1D1D1A"/>
                </a:solidFill>
              </a:rPr>
              <a:t>Page </a:t>
            </a:r>
            <a:fld id="{5C6E3A64-BA6C-4E77-A500-456A7431248D}" type="slidenum">
              <a:rPr lang="de-DE" altLang="zh-CN" smtClean="0">
                <a:solidFill>
                  <a:srgbClr val="1D1D1A"/>
                </a:solidFill>
              </a:rPr>
              <a:t>‹#›</a:t>
            </a:fld>
            <a:endParaRPr lang="en-GB" altLang="zh-CN">
              <a:solidFill>
                <a:srgbClr val="1D1D1A"/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3765" indent="0" algn="ctr">
              <a:buNone/>
              <a:defRPr sz="1800"/>
            </a:lvl3pPr>
            <a:lvl4pPr marL="1370965" indent="0" algn="ctr">
              <a:buNone/>
              <a:defRPr sz="1600"/>
            </a:lvl4pPr>
            <a:lvl5pPr marL="1828165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1930" indent="0" algn="ctr">
              <a:buNone/>
              <a:defRPr sz="1600"/>
            </a:lvl7pPr>
            <a:lvl8pPr marL="3199130" indent="0" algn="ctr">
              <a:buNone/>
              <a:defRPr sz="1600"/>
            </a:lvl8pPr>
            <a:lvl9pPr marL="365633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383E2DCB-0312-43CA-883D-B4510F7BE325}" type="datetimeFigureOut">
              <a:rPr lang="zh-CN" altLang="en-US" smtClean="0">
                <a:solidFill>
                  <a:srgbClr val="1D1D1A"/>
                </a:solidFill>
              </a:rPr>
              <a:t>2023/8/21</a:t>
            </a:fld>
            <a:endParaRPr lang="zh-CN" altLang="en-US">
              <a:solidFill>
                <a:srgbClr val="1D1D1A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pPr defTabSz="914400"/>
            <a:endParaRPr lang="zh-CN" altLang="en-US">
              <a:solidFill>
                <a:srgbClr val="1D1D1A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B8B9B2FE-68FA-43DD-8D4A-8F8F84DBFBE5}" type="slidenum">
              <a:rPr lang="zh-CN" altLang="en-US" smtClean="0">
                <a:solidFill>
                  <a:srgbClr val="1D1D1A"/>
                </a:solidFill>
              </a:rPr>
              <a:t>‹#›</a:t>
            </a:fld>
            <a:endParaRPr lang="zh-CN" altLang="en-US">
              <a:solidFill>
                <a:srgbClr val="1D1D1A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7.jpeg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image" Target="../media/image8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51" name="Picture 79" descr="dd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1" y="6224588"/>
            <a:ext cx="12200467" cy="636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80" name="Text Box 8"/>
          <p:cNvSpPr txBox="1">
            <a:spLocks noChangeArrowheads="1"/>
          </p:cNvSpPr>
          <p:nvPr/>
        </p:nvSpPr>
        <p:spPr bwMode="auto">
          <a:xfrm>
            <a:off x="869952" y="6426200"/>
            <a:ext cx="3221884" cy="3116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95358" tIns="47680" rIns="95358" bIns="47680">
            <a:spAutoFit/>
          </a:bodyPr>
          <a:lstStyle/>
          <a:p>
            <a:pPr defTabSz="95440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solidFill>
                  <a:srgbClr val="000000"/>
                </a:solidFill>
                <a:ea typeface="MS PGothic" panose="020B0600070205080204" pitchFamily="34" charset="-128"/>
              </a:rPr>
              <a:t>HUAWEI TECHNOLOGIES CO., LTD.</a:t>
            </a:r>
          </a:p>
        </p:txBody>
      </p:sp>
      <p:pic>
        <p:nvPicPr>
          <p:cNvPr id="28681" name="Picture 9" descr="8"/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10011835" y="6399214"/>
            <a:ext cx="1748367" cy="312737"/>
          </a:xfrm>
          <a:prstGeom prst="rect">
            <a:avLst/>
          </a:prstGeom>
          <a:noFill/>
        </p:spPr>
      </p:pic>
      <p:sp>
        <p:nvSpPr>
          <p:cNvPr id="28682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481485" y="6489700"/>
            <a:ext cx="2796116" cy="4556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0" rIns="0" bIns="0" numCol="1" anchor="t" anchorCtr="0" compatLnSpc="1"/>
          <a:lstStyle>
            <a:lvl1pPr defTabSz="954405" eaLnBrk="0" hangingPunct="0">
              <a:lnSpc>
                <a:spcPct val="85000"/>
              </a:lnSpc>
              <a:defRPr sz="1400">
                <a:solidFill>
                  <a:schemeClr val="tx1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>
                <a:solidFill>
                  <a:srgbClr val="000000"/>
                </a:solidFill>
                <a:ea typeface="MS PGothic" panose="020B0600070205080204" pitchFamily="34" charset="-128"/>
              </a:rPr>
              <a:t>Page </a:t>
            </a:r>
            <a:fld id="{351ED130-2C62-4880-926B-7D9666288372}" type="slidenum">
              <a:rPr lang="de-DE">
                <a:solidFill>
                  <a:srgbClr val="000000"/>
                </a:solidFill>
                <a:ea typeface="MS PGothic" panose="020B0600070205080204" pitchFamily="34" charset="-128"/>
              </a:rPr>
              <a:t>‹#›</a:t>
            </a:fld>
            <a:endParaRPr lang="en-GB">
              <a:solidFill>
                <a:srgbClr val="000000"/>
              </a:solidFill>
              <a:ea typeface="MS PGothic" panose="020B0600070205080204" pitchFamily="34" charset="-128"/>
            </a:endParaRPr>
          </a:p>
        </p:txBody>
      </p:sp>
      <p:sp>
        <p:nvSpPr>
          <p:cNvPr id="28685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869950" y="430214"/>
            <a:ext cx="10327216" cy="8715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397" tIns="47698" rIns="95397" bIns="47698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8693" name="Rectangle 21"/>
          <p:cNvSpPr>
            <a:spLocks noChangeArrowheads="1"/>
          </p:cNvSpPr>
          <p:nvPr/>
        </p:nvSpPr>
        <p:spPr bwMode="auto">
          <a:xfrm>
            <a:off x="5190067" y="6426200"/>
            <a:ext cx="1835864" cy="31163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95320" tIns="47657" rIns="95320" bIns="47657">
            <a:spAutoFit/>
          </a:bodyPr>
          <a:lstStyle/>
          <a:p>
            <a:pPr defTabSz="95440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solidFill>
                  <a:srgbClr val="000000"/>
                </a:solidFill>
                <a:ea typeface="MS PGothic" panose="020B0600070205080204" pitchFamily="34" charset="-128"/>
              </a:rPr>
              <a:t>Huawei Confidential </a:t>
            </a:r>
          </a:p>
        </p:txBody>
      </p:sp>
      <p:sp>
        <p:nvSpPr>
          <p:cNvPr id="28694" name="Rectangle 22"/>
          <p:cNvSpPr>
            <a:spLocks noChangeArrowheads="1"/>
          </p:cNvSpPr>
          <p:nvPr/>
        </p:nvSpPr>
        <p:spPr bwMode="auto">
          <a:xfrm>
            <a:off x="-2544233" y="528638"/>
            <a:ext cx="2459567" cy="53070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5358" tIns="47680" rIns="95358" bIns="47680"/>
          <a:lstStyle/>
          <a:p>
            <a:pPr algn="r" defTabSz="954405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300">
                <a:solidFill>
                  <a:srgbClr val="FFFFFF"/>
                </a:solidFill>
              </a:rPr>
              <a:t>英文标题</a:t>
            </a:r>
            <a:r>
              <a:rPr lang="en-US" altLang="zh-CN" sz="1300">
                <a:solidFill>
                  <a:srgbClr val="FFFFFF"/>
                </a:solidFill>
              </a:rPr>
              <a:t>:32-35pt  </a:t>
            </a:r>
          </a:p>
          <a:p>
            <a:pPr algn="r" defTabSz="954405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300">
                <a:solidFill>
                  <a:srgbClr val="FFFFFF"/>
                </a:solidFill>
              </a:rPr>
              <a:t>颜色</a:t>
            </a:r>
            <a:r>
              <a:rPr lang="en-US" altLang="zh-CN" sz="1300">
                <a:solidFill>
                  <a:srgbClr val="FFFFFF"/>
                </a:solidFill>
              </a:rPr>
              <a:t>: R153 G0 B0</a:t>
            </a:r>
          </a:p>
          <a:p>
            <a:pPr algn="r" defTabSz="954405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300">
                <a:solidFill>
                  <a:srgbClr val="FFFFFF"/>
                </a:solidFill>
              </a:rPr>
              <a:t>内部使用字体 </a:t>
            </a:r>
            <a:r>
              <a:rPr lang="en-US" altLang="zh-CN" sz="1300">
                <a:solidFill>
                  <a:srgbClr val="FFFFFF"/>
                </a:solidFill>
              </a:rPr>
              <a:t>:</a:t>
            </a:r>
          </a:p>
          <a:p>
            <a:pPr algn="r" defTabSz="954405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300">
                <a:solidFill>
                  <a:srgbClr val="FFFFFF"/>
                </a:solidFill>
              </a:rPr>
              <a:t>FrutigerNext LT Medium</a:t>
            </a:r>
          </a:p>
          <a:p>
            <a:pPr algn="r" defTabSz="954405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300">
                <a:solidFill>
                  <a:srgbClr val="FFFFFF"/>
                </a:solidFill>
              </a:rPr>
              <a:t>外部使用字体 </a:t>
            </a:r>
            <a:r>
              <a:rPr lang="en-US" altLang="zh-CN" sz="1300">
                <a:solidFill>
                  <a:srgbClr val="FFFFFF"/>
                </a:solidFill>
              </a:rPr>
              <a:t>: Arial</a:t>
            </a:r>
          </a:p>
          <a:p>
            <a:pPr algn="r" defTabSz="954405" fontAlgn="base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anose="05000000000000000000" pitchFamily="2" charset="2"/>
              <a:buNone/>
            </a:pPr>
            <a:endParaRPr lang="en-US" altLang="zh-CN" sz="1300">
              <a:solidFill>
                <a:srgbClr val="FFFFFF"/>
              </a:solidFill>
            </a:endParaRPr>
          </a:p>
          <a:p>
            <a:pPr algn="r" defTabSz="954405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300">
                <a:solidFill>
                  <a:srgbClr val="FFFFFF"/>
                </a:solidFill>
              </a:rPr>
              <a:t>中文标题</a:t>
            </a:r>
            <a:r>
              <a:rPr lang="en-US" altLang="zh-CN" sz="1300">
                <a:solidFill>
                  <a:srgbClr val="FFFFFF"/>
                </a:solidFill>
              </a:rPr>
              <a:t>:30-32pt  </a:t>
            </a:r>
          </a:p>
          <a:p>
            <a:pPr algn="r" defTabSz="954405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300">
                <a:solidFill>
                  <a:srgbClr val="FFFFFF"/>
                </a:solidFill>
              </a:rPr>
              <a:t>颜色</a:t>
            </a:r>
            <a:r>
              <a:rPr lang="en-US" altLang="zh-CN" sz="1300">
                <a:solidFill>
                  <a:srgbClr val="FFFFFF"/>
                </a:solidFill>
              </a:rPr>
              <a:t>: R153 G0 B0</a:t>
            </a:r>
          </a:p>
          <a:p>
            <a:pPr algn="r" defTabSz="954405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300">
                <a:solidFill>
                  <a:srgbClr val="FFFFFF"/>
                </a:solidFill>
              </a:rPr>
              <a:t>字体</a:t>
            </a:r>
            <a:r>
              <a:rPr lang="en-US" altLang="zh-CN" sz="1300">
                <a:solidFill>
                  <a:srgbClr val="FFFFFF"/>
                </a:solidFill>
              </a:rPr>
              <a:t>:</a:t>
            </a:r>
            <a:r>
              <a:rPr lang="zh-CN" altLang="en-US" sz="1300">
                <a:solidFill>
                  <a:srgbClr val="FFFFFF"/>
                </a:solidFill>
              </a:rPr>
              <a:t>黑体</a:t>
            </a:r>
          </a:p>
          <a:p>
            <a:pPr algn="r" defTabSz="954405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anose="05000000000000000000" pitchFamily="2" charset="2"/>
              <a:buNone/>
            </a:pPr>
            <a:endParaRPr lang="zh-CN" altLang="en-US" sz="1300">
              <a:solidFill>
                <a:srgbClr val="FFFFFF"/>
              </a:solidFill>
            </a:endParaRPr>
          </a:p>
          <a:p>
            <a:pPr algn="r" defTabSz="954405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anose="05000000000000000000" pitchFamily="2" charset="2"/>
              <a:buNone/>
            </a:pPr>
            <a:endParaRPr lang="zh-CN" altLang="en-US" sz="1300">
              <a:solidFill>
                <a:srgbClr val="FFFFFF"/>
              </a:solidFill>
            </a:endParaRPr>
          </a:p>
          <a:p>
            <a:pPr algn="r" defTabSz="954405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anose="05000000000000000000" pitchFamily="2" charset="2"/>
              <a:buNone/>
            </a:pPr>
            <a:endParaRPr lang="zh-CN" altLang="en-US" sz="1300">
              <a:solidFill>
                <a:srgbClr val="FFFFFF"/>
              </a:solidFill>
            </a:endParaRPr>
          </a:p>
          <a:p>
            <a:pPr algn="r" defTabSz="954405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300">
                <a:solidFill>
                  <a:srgbClr val="FFFFFF"/>
                </a:solidFill>
              </a:rPr>
              <a:t>英文正文</a:t>
            </a:r>
            <a:r>
              <a:rPr lang="en-US" altLang="zh-CN" sz="1300">
                <a:solidFill>
                  <a:srgbClr val="FFFFFF"/>
                </a:solidFill>
              </a:rPr>
              <a:t>:20-22pt</a:t>
            </a:r>
          </a:p>
          <a:p>
            <a:pPr algn="r" defTabSz="954405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300">
                <a:solidFill>
                  <a:srgbClr val="FFFFFF"/>
                </a:solidFill>
              </a:rPr>
              <a:t>子目录 </a:t>
            </a:r>
            <a:r>
              <a:rPr lang="en-US" altLang="zh-CN" sz="1300">
                <a:solidFill>
                  <a:srgbClr val="FFFFFF"/>
                </a:solidFill>
              </a:rPr>
              <a:t>(2-5</a:t>
            </a:r>
            <a:r>
              <a:rPr lang="zh-CN" altLang="en-US" sz="1300">
                <a:solidFill>
                  <a:srgbClr val="FFFFFF"/>
                </a:solidFill>
              </a:rPr>
              <a:t>级</a:t>
            </a:r>
            <a:r>
              <a:rPr lang="en-US" altLang="zh-CN" sz="1300">
                <a:solidFill>
                  <a:srgbClr val="FFFFFF"/>
                </a:solidFill>
              </a:rPr>
              <a:t>) :18pt  </a:t>
            </a:r>
          </a:p>
          <a:p>
            <a:pPr algn="r" defTabSz="954405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300">
                <a:solidFill>
                  <a:srgbClr val="FFFFFF"/>
                </a:solidFill>
              </a:rPr>
              <a:t>颜色</a:t>
            </a:r>
            <a:r>
              <a:rPr lang="en-US" altLang="zh-CN" sz="1300">
                <a:solidFill>
                  <a:srgbClr val="FFFFFF"/>
                </a:solidFill>
              </a:rPr>
              <a:t>:</a:t>
            </a:r>
            <a:r>
              <a:rPr lang="zh-CN" altLang="en-US" sz="1300">
                <a:solidFill>
                  <a:srgbClr val="FFFFFF"/>
                </a:solidFill>
              </a:rPr>
              <a:t>黑色</a:t>
            </a:r>
          </a:p>
          <a:p>
            <a:pPr algn="r" defTabSz="954405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300">
                <a:solidFill>
                  <a:srgbClr val="FFFFFF"/>
                </a:solidFill>
              </a:rPr>
              <a:t>内部使用字体 </a:t>
            </a:r>
            <a:r>
              <a:rPr lang="en-US" altLang="zh-CN" sz="1300">
                <a:solidFill>
                  <a:srgbClr val="FFFFFF"/>
                </a:solidFill>
              </a:rPr>
              <a:t>:</a:t>
            </a:r>
          </a:p>
          <a:p>
            <a:pPr algn="r" defTabSz="954405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300">
                <a:solidFill>
                  <a:srgbClr val="FFFFFF"/>
                </a:solidFill>
              </a:rPr>
              <a:t>FrutigerNext LT Regular</a:t>
            </a:r>
          </a:p>
          <a:p>
            <a:pPr algn="r" defTabSz="954405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300">
                <a:solidFill>
                  <a:srgbClr val="FFFFFF"/>
                </a:solidFill>
              </a:rPr>
              <a:t>外部使用字体 </a:t>
            </a:r>
            <a:r>
              <a:rPr lang="en-US" altLang="zh-CN" sz="1300">
                <a:solidFill>
                  <a:srgbClr val="FFFFFF"/>
                </a:solidFill>
              </a:rPr>
              <a:t>: Arial</a:t>
            </a:r>
          </a:p>
          <a:p>
            <a:pPr algn="r" defTabSz="954405" fontAlgn="base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anose="05000000000000000000" pitchFamily="2" charset="2"/>
              <a:buNone/>
            </a:pPr>
            <a:endParaRPr lang="en-US" altLang="zh-CN" sz="1300">
              <a:solidFill>
                <a:srgbClr val="FFFFFF"/>
              </a:solidFill>
            </a:endParaRPr>
          </a:p>
          <a:p>
            <a:pPr algn="r" defTabSz="954405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300">
                <a:solidFill>
                  <a:srgbClr val="FFFFFF"/>
                </a:solidFill>
              </a:rPr>
              <a:t>中文正文</a:t>
            </a:r>
            <a:r>
              <a:rPr lang="en-US" altLang="zh-CN" sz="1300">
                <a:solidFill>
                  <a:srgbClr val="FFFFFF"/>
                </a:solidFill>
              </a:rPr>
              <a:t>:18-20pt</a:t>
            </a:r>
          </a:p>
          <a:p>
            <a:pPr algn="r" defTabSz="954405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300">
                <a:solidFill>
                  <a:srgbClr val="FFFFFF"/>
                </a:solidFill>
              </a:rPr>
              <a:t>子目录</a:t>
            </a:r>
            <a:r>
              <a:rPr lang="en-US" altLang="zh-CN" sz="1300">
                <a:solidFill>
                  <a:srgbClr val="FFFFFF"/>
                </a:solidFill>
              </a:rPr>
              <a:t>(2-5</a:t>
            </a:r>
            <a:r>
              <a:rPr lang="zh-CN" altLang="en-US" sz="1300">
                <a:solidFill>
                  <a:srgbClr val="FFFFFF"/>
                </a:solidFill>
              </a:rPr>
              <a:t>级</a:t>
            </a:r>
            <a:r>
              <a:rPr lang="en-US" altLang="zh-CN" sz="1300">
                <a:solidFill>
                  <a:srgbClr val="FFFFFF"/>
                </a:solidFill>
              </a:rPr>
              <a:t>):18pt </a:t>
            </a:r>
          </a:p>
          <a:p>
            <a:pPr algn="r" defTabSz="954405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300">
                <a:solidFill>
                  <a:srgbClr val="FFFFFF"/>
                </a:solidFill>
              </a:rPr>
              <a:t>颜色</a:t>
            </a:r>
            <a:r>
              <a:rPr lang="en-US" altLang="zh-CN" sz="1300">
                <a:solidFill>
                  <a:srgbClr val="FFFFFF"/>
                </a:solidFill>
              </a:rPr>
              <a:t>:</a:t>
            </a:r>
            <a:r>
              <a:rPr lang="zh-CN" altLang="en-US" sz="1300">
                <a:solidFill>
                  <a:srgbClr val="FFFFFF"/>
                </a:solidFill>
              </a:rPr>
              <a:t>黑色</a:t>
            </a:r>
          </a:p>
          <a:p>
            <a:pPr algn="r" defTabSz="954405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300">
                <a:solidFill>
                  <a:srgbClr val="FFFFFF"/>
                </a:solidFill>
              </a:rPr>
              <a:t>字体</a:t>
            </a:r>
            <a:r>
              <a:rPr lang="en-US" altLang="zh-CN" sz="1300">
                <a:solidFill>
                  <a:srgbClr val="FFFFFF"/>
                </a:solidFill>
              </a:rPr>
              <a:t>:</a:t>
            </a:r>
            <a:r>
              <a:rPr lang="zh-CN" altLang="en-US" sz="1300">
                <a:solidFill>
                  <a:srgbClr val="FFFFFF"/>
                </a:solidFill>
              </a:rPr>
              <a:t>细黑体 </a:t>
            </a:r>
          </a:p>
          <a:p>
            <a:pPr algn="r" defTabSz="954405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anose="05000000000000000000" pitchFamily="2" charset="2"/>
              <a:buNone/>
            </a:pPr>
            <a:endParaRPr lang="zh-CN" altLang="en-US" sz="1300">
              <a:solidFill>
                <a:srgbClr val="FFFFFF"/>
              </a:solidFill>
            </a:endParaRPr>
          </a:p>
          <a:p>
            <a:pPr algn="r" defTabSz="954405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anose="05000000000000000000" pitchFamily="2" charset="2"/>
              <a:buNone/>
            </a:pPr>
            <a:endParaRPr lang="zh-CN" altLang="en-US" sz="1300">
              <a:solidFill>
                <a:srgbClr val="FFFFFF"/>
              </a:solidFill>
            </a:endParaRPr>
          </a:p>
          <a:p>
            <a:pPr algn="r" defTabSz="954405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anose="05000000000000000000" pitchFamily="2" charset="2"/>
              <a:buNone/>
            </a:pPr>
            <a:endParaRPr lang="zh-CN" altLang="en-US" sz="1300">
              <a:solidFill>
                <a:srgbClr val="FFFFFF"/>
              </a:solidFill>
            </a:endParaRPr>
          </a:p>
          <a:p>
            <a:pPr algn="r" defTabSz="954405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anose="05000000000000000000" pitchFamily="2" charset="2"/>
              <a:buNone/>
            </a:pPr>
            <a:endParaRPr lang="zh-CN" altLang="en-US" sz="1300">
              <a:solidFill>
                <a:srgbClr val="FFFFFF"/>
              </a:solidFill>
            </a:endParaRPr>
          </a:p>
          <a:p>
            <a:pPr algn="r" defTabSz="954405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anose="05000000000000000000" pitchFamily="2" charset="2"/>
              <a:buNone/>
            </a:pPr>
            <a:endParaRPr lang="zh-CN" altLang="en-US" sz="1300">
              <a:solidFill>
                <a:srgbClr val="FFFFFF"/>
              </a:solidFill>
            </a:endParaRPr>
          </a:p>
        </p:txBody>
      </p:sp>
      <p:sp>
        <p:nvSpPr>
          <p:cNvPr id="28734" name="Rectangle 62"/>
          <p:cNvSpPr>
            <a:spLocks noChangeArrowheads="1"/>
          </p:cNvSpPr>
          <p:nvPr/>
        </p:nvSpPr>
        <p:spPr bwMode="auto">
          <a:xfrm>
            <a:off x="12266085" y="1423988"/>
            <a:ext cx="1399116" cy="20050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5358" tIns="47680" rIns="95358" bIns="47680"/>
          <a:lstStyle/>
          <a:p>
            <a:pPr defTabSz="954405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300">
                <a:solidFill>
                  <a:srgbClr val="FFFFFF"/>
                </a:solidFill>
              </a:rPr>
              <a:t>配色参考方案：</a:t>
            </a:r>
          </a:p>
          <a:p>
            <a:pPr defTabSz="954405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300">
                <a:solidFill>
                  <a:srgbClr val="FFFFFF"/>
                </a:solidFill>
              </a:rPr>
              <a:t>建议同一页面内不超过四种颜色，以下是</a:t>
            </a:r>
            <a:r>
              <a:rPr lang="en-US" altLang="zh-CN" sz="1300">
                <a:solidFill>
                  <a:srgbClr val="FFFFFF"/>
                </a:solidFill>
              </a:rPr>
              <a:t>13</a:t>
            </a:r>
            <a:r>
              <a:rPr lang="zh-CN" altLang="en-US" sz="1300">
                <a:solidFill>
                  <a:srgbClr val="FFFFFF"/>
                </a:solidFill>
              </a:rPr>
              <a:t>组配色方案，同一页面内只选择一组使用。（仅供参考）</a:t>
            </a:r>
          </a:p>
          <a:p>
            <a:pPr defTabSz="954405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anose="05000000000000000000" pitchFamily="2" charset="2"/>
              <a:buNone/>
            </a:pPr>
            <a:endParaRPr lang="zh-CN" altLang="en-US" sz="1300">
              <a:solidFill>
                <a:srgbClr val="FFFFFF"/>
              </a:solidFill>
            </a:endParaRPr>
          </a:p>
          <a:p>
            <a:pPr defTabSz="954405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anose="05000000000000000000" pitchFamily="2" charset="2"/>
              <a:buChar char="l"/>
            </a:pPr>
            <a:endParaRPr lang="zh-CN" altLang="en-US" sz="1300">
              <a:solidFill>
                <a:srgbClr val="FFFFFF"/>
              </a:solidFill>
            </a:endParaRPr>
          </a:p>
          <a:p>
            <a:pPr defTabSz="954405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anose="05000000000000000000" pitchFamily="2" charset="2"/>
              <a:buChar char="l"/>
            </a:pPr>
            <a:endParaRPr lang="zh-CN" altLang="en-US" sz="1300">
              <a:solidFill>
                <a:srgbClr val="FFFFFF"/>
              </a:solidFill>
            </a:endParaRPr>
          </a:p>
        </p:txBody>
      </p:sp>
      <p:sp>
        <p:nvSpPr>
          <p:cNvPr id="28737" name="Rectangle 65"/>
          <p:cNvSpPr>
            <a:spLocks noChangeArrowheads="1"/>
          </p:cNvSpPr>
          <p:nvPr/>
        </p:nvSpPr>
        <p:spPr bwMode="auto">
          <a:xfrm>
            <a:off x="12266085" y="-61912"/>
            <a:ext cx="1399116" cy="83820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5358" tIns="47680" rIns="95358" bIns="47680"/>
          <a:lstStyle/>
          <a:p>
            <a:pPr defTabSz="954405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300">
                <a:solidFill>
                  <a:srgbClr val="FFFFFF"/>
                </a:solidFill>
              </a:rPr>
              <a:t>客户或者合作伙伴的标志放在右上角</a:t>
            </a:r>
            <a:r>
              <a:rPr lang="en-US" altLang="zh-CN" sz="1300">
                <a:solidFill>
                  <a:srgbClr val="FFFFFF"/>
                </a:solidFill>
              </a:rPr>
              <a:t>.</a:t>
            </a:r>
          </a:p>
          <a:p>
            <a:pPr defTabSz="954405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anose="05000000000000000000" pitchFamily="2" charset="2"/>
              <a:buNone/>
            </a:pPr>
            <a:endParaRPr lang="zh-CN" altLang="en-US" sz="1300">
              <a:solidFill>
                <a:srgbClr val="FFFFFF"/>
              </a:solidFill>
            </a:endParaRPr>
          </a:p>
          <a:p>
            <a:pPr defTabSz="954405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anose="05000000000000000000" pitchFamily="2" charset="2"/>
              <a:buChar char="l"/>
            </a:pPr>
            <a:endParaRPr lang="zh-CN" altLang="en-US" sz="1300">
              <a:solidFill>
                <a:srgbClr val="FFFFFF"/>
              </a:solidFill>
            </a:endParaRPr>
          </a:p>
          <a:p>
            <a:pPr defTabSz="954405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anose="05000000000000000000" pitchFamily="2" charset="2"/>
              <a:buChar char="l"/>
            </a:pPr>
            <a:endParaRPr lang="zh-CN" altLang="en-US" sz="1300">
              <a:solidFill>
                <a:srgbClr val="FFFFFF"/>
              </a:solidFill>
            </a:endParaRPr>
          </a:p>
        </p:txBody>
      </p:sp>
      <p:sp>
        <p:nvSpPr>
          <p:cNvPr id="28740" name="Rectangle 68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9951" y="1641476"/>
            <a:ext cx="10572749" cy="4194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413" tIns="47706" rIns="95413" bIns="47706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8752" name="Rectangle 80"/>
          <p:cNvSpPr>
            <a:spLocks noChangeArrowheads="1"/>
          </p:cNvSpPr>
          <p:nvPr/>
        </p:nvSpPr>
        <p:spPr bwMode="auto">
          <a:xfrm>
            <a:off x="12359217" y="4988748"/>
            <a:ext cx="1225550" cy="371419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</a:ln>
          <a:effectLst/>
        </p:spPr>
        <p:txBody>
          <a:bodyPr lIns="108807" tIns="54403" rIns="108807" bIns="54403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700">
              <a:solidFill>
                <a:srgbClr val="FFFFFF"/>
              </a:solidFill>
              <a:ea typeface="MS PGothic" panose="020B0600070205080204" pitchFamily="34" charset="-128"/>
            </a:endParaRPr>
          </a:p>
        </p:txBody>
      </p:sp>
      <p:grpSp>
        <p:nvGrpSpPr>
          <p:cNvPr id="2" name="Group 81"/>
          <p:cNvGrpSpPr/>
          <p:nvPr/>
        </p:nvGrpSpPr>
        <p:grpSpPr bwMode="auto">
          <a:xfrm>
            <a:off x="12473518" y="3789363"/>
            <a:ext cx="986366" cy="182562"/>
            <a:chOff x="5893" y="2387"/>
            <a:chExt cx="466" cy="115"/>
          </a:xfrm>
        </p:grpSpPr>
        <p:sp>
          <p:nvSpPr>
            <p:cNvPr id="28754" name="Rectangle 82"/>
            <p:cNvSpPr>
              <a:spLocks noChangeArrowheads="1"/>
            </p:cNvSpPr>
            <p:nvPr userDrawn="1"/>
          </p:nvSpPr>
          <p:spPr bwMode="auto">
            <a:xfrm flipV="1">
              <a:off x="6010" y="2387"/>
              <a:ext cx="116" cy="115"/>
            </a:xfrm>
            <a:prstGeom prst="rect">
              <a:avLst/>
            </a:prstGeom>
            <a:solidFill>
              <a:srgbClr val="FFCC66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00">
                <a:solidFill>
                  <a:srgbClr val="FFFFFF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28755" name="Rectangle 83"/>
            <p:cNvSpPr>
              <a:spLocks noChangeArrowheads="1"/>
            </p:cNvSpPr>
            <p:nvPr userDrawn="1"/>
          </p:nvSpPr>
          <p:spPr bwMode="auto">
            <a:xfrm flipV="1">
              <a:off x="6126" y="2387"/>
              <a:ext cx="116" cy="115"/>
            </a:xfrm>
            <a:prstGeom prst="rect">
              <a:avLst/>
            </a:prstGeom>
            <a:solidFill>
              <a:srgbClr val="FF9900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00">
                <a:solidFill>
                  <a:srgbClr val="FFFFFF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28756" name="Rectangle 84"/>
            <p:cNvSpPr>
              <a:spLocks noChangeArrowheads="1"/>
            </p:cNvSpPr>
            <p:nvPr userDrawn="1"/>
          </p:nvSpPr>
          <p:spPr bwMode="auto">
            <a:xfrm flipV="1">
              <a:off x="6242" y="2387"/>
              <a:ext cx="117" cy="115"/>
            </a:xfrm>
            <a:prstGeom prst="rect">
              <a:avLst/>
            </a:prstGeom>
            <a:solidFill>
              <a:srgbClr val="99660A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00">
                <a:solidFill>
                  <a:srgbClr val="FFFFFF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28757" name="Rectangle 85"/>
            <p:cNvSpPr>
              <a:spLocks noChangeArrowheads="1"/>
            </p:cNvSpPr>
            <p:nvPr userDrawn="1"/>
          </p:nvSpPr>
          <p:spPr bwMode="auto">
            <a:xfrm flipV="1">
              <a:off x="5893" y="2387"/>
              <a:ext cx="117" cy="115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00">
                <a:solidFill>
                  <a:srgbClr val="FFFFFF"/>
                </a:solidFill>
                <a:ea typeface="MS PGothic" panose="020B0600070205080204" pitchFamily="34" charset="-128"/>
              </a:endParaRPr>
            </a:p>
          </p:txBody>
        </p:sp>
      </p:grpSp>
      <p:grpSp>
        <p:nvGrpSpPr>
          <p:cNvPr id="3" name="Group 86"/>
          <p:cNvGrpSpPr/>
          <p:nvPr/>
        </p:nvGrpSpPr>
        <p:grpSpPr bwMode="auto">
          <a:xfrm>
            <a:off x="12473518" y="4005263"/>
            <a:ext cx="986366" cy="182562"/>
            <a:chOff x="5893" y="2523"/>
            <a:chExt cx="466" cy="115"/>
          </a:xfrm>
        </p:grpSpPr>
        <p:sp>
          <p:nvSpPr>
            <p:cNvPr id="28759" name="Rectangle 87"/>
            <p:cNvSpPr>
              <a:spLocks noChangeArrowheads="1"/>
            </p:cNvSpPr>
            <p:nvPr userDrawn="1"/>
          </p:nvSpPr>
          <p:spPr bwMode="auto">
            <a:xfrm flipV="1">
              <a:off x="6010" y="2523"/>
              <a:ext cx="116" cy="115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00">
                <a:solidFill>
                  <a:srgbClr val="FFFFFF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28760" name="Rectangle 88"/>
            <p:cNvSpPr>
              <a:spLocks noChangeArrowheads="1"/>
            </p:cNvSpPr>
            <p:nvPr userDrawn="1"/>
          </p:nvSpPr>
          <p:spPr bwMode="auto">
            <a:xfrm flipV="1">
              <a:off x="6126" y="2523"/>
              <a:ext cx="116" cy="115"/>
            </a:xfrm>
            <a:prstGeom prst="rect">
              <a:avLst/>
            </a:prstGeom>
            <a:solidFill>
              <a:srgbClr val="99CCCC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00">
                <a:solidFill>
                  <a:srgbClr val="FFFFFF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28761" name="Rectangle 89"/>
            <p:cNvSpPr>
              <a:spLocks noChangeArrowheads="1"/>
            </p:cNvSpPr>
            <p:nvPr userDrawn="1"/>
          </p:nvSpPr>
          <p:spPr bwMode="auto">
            <a:xfrm flipV="1">
              <a:off x="6242" y="2523"/>
              <a:ext cx="117" cy="115"/>
            </a:xfrm>
            <a:prstGeom prst="rect">
              <a:avLst/>
            </a:prstGeom>
            <a:solidFill>
              <a:srgbClr val="009999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00">
                <a:solidFill>
                  <a:srgbClr val="FFFFFF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28762" name="Rectangle 90"/>
            <p:cNvSpPr>
              <a:spLocks noChangeArrowheads="1"/>
            </p:cNvSpPr>
            <p:nvPr userDrawn="1"/>
          </p:nvSpPr>
          <p:spPr bwMode="auto">
            <a:xfrm flipV="1">
              <a:off x="5893" y="2523"/>
              <a:ext cx="117" cy="115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00">
                <a:solidFill>
                  <a:srgbClr val="FFFFFF"/>
                </a:solidFill>
                <a:ea typeface="MS PGothic" panose="020B0600070205080204" pitchFamily="34" charset="-128"/>
              </a:endParaRPr>
            </a:p>
          </p:txBody>
        </p:sp>
      </p:grpSp>
      <p:grpSp>
        <p:nvGrpSpPr>
          <p:cNvPr id="4" name="Group 91"/>
          <p:cNvGrpSpPr/>
          <p:nvPr/>
        </p:nvGrpSpPr>
        <p:grpSpPr bwMode="auto">
          <a:xfrm>
            <a:off x="12473518" y="4221163"/>
            <a:ext cx="986366" cy="182562"/>
            <a:chOff x="5893" y="2659"/>
            <a:chExt cx="466" cy="115"/>
          </a:xfrm>
        </p:grpSpPr>
        <p:sp>
          <p:nvSpPr>
            <p:cNvPr id="28764" name="Rectangle 92"/>
            <p:cNvSpPr>
              <a:spLocks noChangeArrowheads="1"/>
            </p:cNvSpPr>
            <p:nvPr userDrawn="1"/>
          </p:nvSpPr>
          <p:spPr bwMode="auto">
            <a:xfrm flipV="1">
              <a:off x="6010" y="2659"/>
              <a:ext cx="116" cy="115"/>
            </a:xfrm>
            <a:prstGeom prst="rect">
              <a:avLst/>
            </a:prstGeom>
            <a:solidFill>
              <a:srgbClr val="99CCCC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00">
                <a:solidFill>
                  <a:srgbClr val="FFFFFF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28765" name="Rectangle 93"/>
            <p:cNvSpPr>
              <a:spLocks noChangeArrowheads="1"/>
            </p:cNvSpPr>
            <p:nvPr userDrawn="1"/>
          </p:nvSpPr>
          <p:spPr bwMode="auto">
            <a:xfrm flipV="1">
              <a:off x="6126" y="2659"/>
              <a:ext cx="116" cy="115"/>
            </a:xfrm>
            <a:prstGeom prst="rect">
              <a:avLst/>
            </a:prstGeom>
            <a:solidFill>
              <a:srgbClr val="0099CC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00">
                <a:solidFill>
                  <a:srgbClr val="FFFFFF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28766" name="Rectangle 94"/>
            <p:cNvSpPr>
              <a:spLocks noChangeArrowheads="1"/>
            </p:cNvSpPr>
            <p:nvPr userDrawn="1"/>
          </p:nvSpPr>
          <p:spPr bwMode="auto">
            <a:xfrm flipV="1">
              <a:off x="6242" y="2659"/>
              <a:ext cx="117" cy="115"/>
            </a:xfrm>
            <a:prstGeom prst="rect">
              <a:avLst/>
            </a:prstGeom>
            <a:solidFill>
              <a:srgbClr val="006699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00">
                <a:solidFill>
                  <a:srgbClr val="FFFFFF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28767" name="Rectangle 95"/>
            <p:cNvSpPr>
              <a:spLocks noChangeArrowheads="1"/>
            </p:cNvSpPr>
            <p:nvPr userDrawn="1"/>
          </p:nvSpPr>
          <p:spPr bwMode="auto">
            <a:xfrm flipV="1">
              <a:off x="5893" y="2659"/>
              <a:ext cx="117" cy="115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00">
                <a:solidFill>
                  <a:srgbClr val="FFFFFF"/>
                </a:solidFill>
                <a:ea typeface="MS PGothic" panose="020B0600070205080204" pitchFamily="34" charset="-128"/>
              </a:endParaRPr>
            </a:p>
          </p:txBody>
        </p:sp>
      </p:grpSp>
      <p:grpSp>
        <p:nvGrpSpPr>
          <p:cNvPr id="5" name="Group 96"/>
          <p:cNvGrpSpPr/>
          <p:nvPr/>
        </p:nvGrpSpPr>
        <p:grpSpPr bwMode="auto">
          <a:xfrm>
            <a:off x="12473518" y="3573463"/>
            <a:ext cx="986366" cy="188912"/>
            <a:chOff x="5893" y="2251"/>
            <a:chExt cx="466" cy="119"/>
          </a:xfrm>
        </p:grpSpPr>
        <p:sp>
          <p:nvSpPr>
            <p:cNvPr id="28769" name="Rectangle 97"/>
            <p:cNvSpPr>
              <a:spLocks noChangeArrowheads="1"/>
            </p:cNvSpPr>
            <p:nvPr userDrawn="1"/>
          </p:nvSpPr>
          <p:spPr bwMode="auto">
            <a:xfrm flipV="1">
              <a:off x="6126" y="2251"/>
              <a:ext cx="116" cy="119"/>
            </a:xfrm>
            <a:prstGeom prst="rect">
              <a:avLst/>
            </a:prstGeom>
            <a:solidFill>
              <a:srgbClr val="FF9900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00">
                <a:solidFill>
                  <a:srgbClr val="FFFFFF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28770" name="Rectangle 98"/>
            <p:cNvSpPr>
              <a:spLocks noChangeArrowheads="1"/>
            </p:cNvSpPr>
            <p:nvPr userDrawn="1"/>
          </p:nvSpPr>
          <p:spPr bwMode="auto">
            <a:xfrm flipV="1">
              <a:off x="6242" y="2251"/>
              <a:ext cx="117" cy="119"/>
            </a:xfrm>
            <a:prstGeom prst="rect">
              <a:avLst/>
            </a:prstGeom>
            <a:solidFill>
              <a:srgbClr val="CCCCCC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00">
                <a:solidFill>
                  <a:srgbClr val="FFFFFF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28771" name="Rectangle 99"/>
            <p:cNvSpPr>
              <a:spLocks noChangeArrowheads="1"/>
            </p:cNvSpPr>
            <p:nvPr userDrawn="1"/>
          </p:nvSpPr>
          <p:spPr bwMode="auto">
            <a:xfrm flipV="1">
              <a:off x="5893" y="2251"/>
              <a:ext cx="117" cy="119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00">
                <a:solidFill>
                  <a:srgbClr val="FFFFFF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28772" name="Rectangle 100"/>
            <p:cNvSpPr>
              <a:spLocks noChangeArrowheads="1"/>
            </p:cNvSpPr>
            <p:nvPr userDrawn="1"/>
          </p:nvSpPr>
          <p:spPr bwMode="auto">
            <a:xfrm flipV="1">
              <a:off x="6010" y="2251"/>
              <a:ext cx="116" cy="119"/>
            </a:xfrm>
            <a:prstGeom prst="rect">
              <a:avLst/>
            </a:prstGeom>
            <a:solidFill>
              <a:srgbClr val="669900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00">
                <a:solidFill>
                  <a:srgbClr val="FFFFFF"/>
                </a:solidFill>
                <a:ea typeface="MS PGothic" panose="020B0600070205080204" pitchFamily="34" charset="-128"/>
              </a:endParaRPr>
            </a:p>
          </p:txBody>
        </p:sp>
      </p:grpSp>
      <p:grpSp>
        <p:nvGrpSpPr>
          <p:cNvPr id="6" name="Group 101"/>
          <p:cNvGrpSpPr/>
          <p:nvPr/>
        </p:nvGrpSpPr>
        <p:grpSpPr bwMode="auto">
          <a:xfrm>
            <a:off x="12473518" y="4581526"/>
            <a:ext cx="986366" cy="182563"/>
            <a:chOff x="5893" y="2886"/>
            <a:chExt cx="466" cy="115"/>
          </a:xfrm>
        </p:grpSpPr>
        <p:sp>
          <p:nvSpPr>
            <p:cNvPr id="28774" name="Rectangle 102"/>
            <p:cNvSpPr>
              <a:spLocks noChangeArrowheads="1"/>
            </p:cNvSpPr>
            <p:nvPr userDrawn="1"/>
          </p:nvSpPr>
          <p:spPr bwMode="auto">
            <a:xfrm flipV="1">
              <a:off x="6010" y="2886"/>
              <a:ext cx="116" cy="115"/>
            </a:xfrm>
            <a:prstGeom prst="rect">
              <a:avLst/>
            </a:prstGeom>
            <a:solidFill>
              <a:srgbClr val="FF9900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00">
                <a:solidFill>
                  <a:srgbClr val="FFFFFF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28775" name="Rectangle 103"/>
            <p:cNvSpPr>
              <a:spLocks noChangeArrowheads="1"/>
            </p:cNvSpPr>
            <p:nvPr userDrawn="1"/>
          </p:nvSpPr>
          <p:spPr bwMode="auto">
            <a:xfrm flipV="1">
              <a:off x="6126" y="2886"/>
              <a:ext cx="116" cy="115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00">
                <a:solidFill>
                  <a:srgbClr val="FFFFFF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28776" name="Rectangle 104"/>
            <p:cNvSpPr>
              <a:spLocks noChangeArrowheads="1"/>
            </p:cNvSpPr>
            <p:nvPr userDrawn="1"/>
          </p:nvSpPr>
          <p:spPr bwMode="auto">
            <a:xfrm flipV="1">
              <a:off x="6242" y="2886"/>
              <a:ext cx="117" cy="115"/>
            </a:xfrm>
            <a:prstGeom prst="rect">
              <a:avLst/>
            </a:prstGeom>
            <a:solidFill>
              <a:srgbClr val="FFCC66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00">
                <a:solidFill>
                  <a:srgbClr val="FFFFFF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28777" name="Rectangle 105"/>
            <p:cNvSpPr>
              <a:spLocks noChangeArrowheads="1"/>
            </p:cNvSpPr>
            <p:nvPr userDrawn="1"/>
          </p:nvSpPr>
          <p:spPr bwMode="auto">
            <a:xfrm flipV="1">
              <a:off x="5893" y="2886"/>
              <a:ext cx="117" cy="115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00">
                <a:solidFill>
                  <a:srgbClr val="FFFFFF"/>
                </a:solidFill>
                <a:ea typeface="MS PGothic" panose="020B0600070205080204" pitchFamily="34" charset="-128"/>
              </a:endParaRPr>
            </a:p>
          </p:txBody>
        </p:sp>
      </p:grpSp>
      <p:grpSp>
        <p:nvGrpSpPr>
          <p:cNvPr id="7" name="Group 106"/>
          <p:cNvGrpSpPr/>
          <p:nvPr/>
        </p:nvGrpSpPr>
        <p:grpSpPr bwMode="auto">
          <a:xfrm>
            <a:off x="12473518" y="4797426"/>
            <a:ext cx="986366" cy="182563"/>
            <a:chOff x="5893" y="3022"/>
            <a:chExt cx="466" cy="115"/>
          </a:xfrm>
        </p:grpSpPr>
        <p:sp>
          <p:nvSpPr>
            <p:cNvPr id="28779" name="Rectangle 107"/>
            <p:cNvSpPr>
              <a:spLocks noChangeArrowheads="1"/>
            </p:cNvSpPr>
            <p:nvPr userDrawn="1"/>
          </p:nvSpPr>
          <p:spPr bwMode="auto">
            <a:xfrm flipV="1">
              <a:off x="6010" y="3022"/>
              <a:ext cx="116" cy="115"/>
            </a:xfrm>
            <a:prstGeom prst="rect">
              <a:avLst/>
            </a:prstGeom>
            <a:solidFill>
              <a:srgbClr val="006699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00">
                <a:solidFill>
                  <a:srgbClr val="FFFFFF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28780" name="Rectangle 108"/>
            <p:cNvSpPr>
              <a:spLocks noChangeArrowheads="1"/>
            </p:cNvSpPr>
            <p:nvPr userDrawn="1"/>
          </p:nvSpPr>
          <p:spPr bwMode="auto">
            <a:xfrm flipV="1">
              <a:off x="6126" y="3022"/>
              <a:ext cx="116" cy="115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00">
                <a:solidFill>
                  <a:srgbClr val="FFFFFF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28781" name="Rectangle 109"/>
            <p:cNvSpPr>
              <a:spLocks noChangeArrowheads="1"/>
            </p:cNvSpPr>
            <p:nvPr userDrawn="1"/>
          </p:nvSpPr>
          <p:spPr bwMode="auto">
            <a:xfrm flipV="1">
              <a:off x="6242" y="3022"/>
              <a:ext cx="117" cy="115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00">
                <a:solidFill>
                  <a:srgbClr val="FFFFFF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28782" name="Rectangle 110"/>
            <p:cNvSpPr>
              <a:spLocks noChangeArrowheads="1"/>
            </p:cNvSpPr>
            <p:nvPr userDrawn="1"/>
          </p:nvSpPr>
          <p:spPr bwMode="auto">
            <a:xfrm flipV="1">
              <a:off x="5893" y="3022"/>
              <a:ext cx="117" cy="115"/>
            </a:xfrm>
            <a:prstGeom prst="rect">
              <a:avLst/>
            </a:prstGeom>
            <a:solidFill>
              <a:srgbClr val="990000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00">
                <a:solidFill>
                  <a:srgbClr val="FFFFFF"/>
                </a:solidFill>
                <a:ea typeface="MS PGothic" panose="020B0600070205080204" pitchFamily="34" charset="-128"/>
              </a:endParaRPr>
            </a:p>
          </p:txBody>
        </p:sp>
      </p:grpSp>
      <p:grpSp>
        <p:nvGrpSpPr>
          <p:cNvPr id="8" name="Group 111"/>
          <p:cNvGrpSpPr/>
          <p:nvPr/>
        </p:nvGrpSpPr>
        <p:grpSpPr bwMode="auto">
          <a:xfrm>
            <a:off x="12473518" y="5013326"/>
            <a:ext cx="986366" cy="182563"/>
            <a:chOff x="5893" y="3158"/>
            <a:chExt cx="466" cy="115"/>
          </a:xfrm>
        </p:grpSpPr>
        <p:sp>
          <p:nvSpPr>
            <p:cNvPr id="28784" name="Rectangle 112"/>
            <p:cNvSpPr>
              <a:spLocks noChangeArrowheads="1"/>
            </p:cNvSpPr>
            <p:nvPr userDrawn="1"/>
          </p:nvSpPr>
          <p:spPr bwMode="auto">
            <a:xfrm flipV="1">
              <a:off x="6010" y="3158"/>
              <a:ext cx="116" cy="115"/>
            </a:xfrm>
            <a:prstGeom prst="rect">
              <a:avLst/>
            </a:prstGeom>
            <a:solidFill>
              <a:srgbClr val="009999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00">
                <a:solidFill>
                  <a:srgbClr val="FFFFFF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28785" name="Rectangle 113"/>
            <p:cNvSpPr>
              <a:spLocks noChangeArrowheads="1"/>
            </p:cNvSpPr>
            <p:nvPr userDrawn="1"/>
          </p:nvSpPr>
          <p:spPr bwMode="auto">
            <a:xfrm flipV="1">
              <a:off x="6126" y="3158"/>
              <a:ext cx="116" cy="115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00">
                <a:solidFill>
                  <a:srgbClr val="FFFFFF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28786" name="Rectangle 114"/>
            <p:cNvSpPr>
              <a:spLocks noChangeArrowheads="1"/>
            </p:cNvSpPr>
            <p:nvPr userDrawn="1"/>
          </p:nvSpPr>
          <p:spPr bwMode="auto">
            <a:xfrm flipV="1">
              <a:off x="6242" y="3158"/>
              <a:ext cx="117" cy="115"/>
            </a:xfrm>
            <a:prstGeom prst="rect">
              <a:avLst/>
            </a:prstGeom>
            <a:solidFill>
              <a:srgbClr val="99CCCC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00">
                <a:solidFill>
                  <a:srgbClr val="FFFFFF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28787" name="Rectangle 115"/>
            <p:cNvSpPr>
              <a:spLocks noChangeArrowheads="1"/>
            </p:cNvSpPr>
            <p:nvPr userDrawn="1"/>
          </p:nvSpPr>
          <p:spPr bwMode="auto">
            <a:xfrm flipV="1">
              <a:off x="5893" y="3158"/>
              <a:ext cx="117" cy="115"/>
            </a:xfrm>
            <a:prstGeom prst="rect">
              <a:avLst/>
            </a:prstGeom>
            <a:solidFill>
              <a:srgbClr val="990000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00">
                <a:solidFill>
                  <a:srgbClr val="FFFFFF"/>
                </a:solidFill>
                <a:ea typeface="MS PGothic" panose="020B0600070205080204" pitchFamily="34" charset="-128"/>
              </a:endParaRPr>
            </a:p>
          </p:txBody>
        </p:sp>
      </p:grpSp>
      <p:grpSp>
        <p:nvGrpSpPr>
          <p:cNvPr id="9" name="Group 116"/>
          <p:cNvGrpSpPr/>
          <p:nvPr/>
        </p:nvGrpSpPr>
        <p:grpSpPr bwMode="auto">
          <a:xfrm>
            <a:off x="12473518" y="5373688"/>
            <a:ext cx="986366" cy="182562"/>
            <a:chOff x="5893" y="3385"/>
            <a:chExt cx="466" cy="115"/>
          </a:xfrm>
        </p:grpSpPr>
        <p:sp>
          <p:nvSpPr>
            <p:cNvPr id="28789" name="Rectangle 117"/>
            <p:cNvSpPr>
              <a:spLocks noChangeArrowheads="1"/>
            </p:cNvSpPr>
            <p:nvPr userDrawn="1"/>
          </p:nvSpPr>
          <p:spPr bwMode="auto">
            <a:xfrm flipV="1">
              <a:off x="6010" y="3385"/>
              <a:ext cx="116" cy="115"/>
            </a:xfrm>
            <a:prstGeom prst="rect">
              <a:avLst/>
            </a:prstGeom>
            <a:solidFill>
              <a:srgbClr val="FF9900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00">
                <a:solidFill>
                  <a:srgbClr val="FFFFFF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28790" name="Rectangle 118"/>
            <p:cNvSpPr>
              <a:spLocks noChangeArrowheads="1"/>
            </p:cNvSpPr>
            <p:nvPr userDrawn="1"/>
          </p:nvSpPr>
          <p:spPr bwMode="auto">
            <a:xfrm flipV="1">
              <a:off x="6126" y="3385"/>
              <a:ext cx="116" cy="115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00">
                <a:solidFill>
                  <a:srgbClr val="FFFFFF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28791" name="Rectangle 119"/>
            <p:cNvSpPr>
              <a:spLocks noChangeArrowheads="1"/>
            </p:cNvSpPr>
            <p:nvPr userDrawn="1"/>
          </p:nvSpPr>
          <p:spPr bwMode="auto">
            <a:xfrm flipV="1">
              <a:off x="6242" y="3385"/>
              <a:ext cx="117" cy="115"/>
            </a:xfrm>
            <a:prstGeom prst="rect">
              <a:avLst/>
            </a:prstGeom>
            <a:solidFill>
              <a:srgbClr val="FFCC66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00">
                <a:solidFill>
                  <a:srgbClr val="FFFFFF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28792" name="Rectangle 120"/>
            <p:cNvSpPr>
              <a:spLocks noChangeArrowheads="1"/>
            </p:cNvSpPr>
            <p:nvPr userDrawn="1"/>
          </p:nvSpPr>
          <p:spPr bwMode="auto">
            <a:xfrm flipV="1">
              <a:off x="5893" y="3385"/>
              <a:ext cx="117" cy="115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00">
                <a:solidFill>
                  <a:srgbClr val="FFFFFF"/>
                </a:solidFill>
                <a:ea typeface="MS PGothic" panose="020B0600070205080204" pitchFamily="34" charset="-128"/>
              </a:endParaRPr>
            </a:p>
          </p:txBody>
        </p:sp>
      </p:grpSp>
      <p:grpSp>
        <p:nvGrpSpPr>
          <p:cNvPr id="10" name="Group 121"/>
          <p:cNvGrpSpPr/>
          <p:nvPr/>
        </p:nvGrpSpPr>
        <p:grpSpPr bwMode="auto">
          <a:xfrm>
            <a:off x="12473518" y="5589588"/>
            <a:ext cx="986366" cy="182562"/>
            <a:chOff x="5893" y="3521"/>
            <a:chExt cx="466" cy="115"/>
          </a:xfrm>
        </p:grpSpPr>
        <p:sp>
          <p:nvSpPr>
            <p:cNvPr id="28794" name="Rectangle 122"/>
            <p:cNvSpPr>
              <a:spLocks noChangeArrowheads="1"/>
            </p:cNvSpPr>
            <p:nvPr userDrawn="1"/>
          </p:nvSpPr>
          <p:spPr bwMode="auto">
            <a:xfrm flipV="1">
              <a:off x="6010" y="3521"/>
              <a:ext cx="116" cy="115"/>
            </a:xfrm>
            <a:prstGeom prst="rect">
              <a:avLst/>
            </a:prstGeom>
            <a:solidFill>
              <a:srgbClr val="006699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00">
                <a:solidFill>
                  <a:srgbClr val="FFFFFF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28795" name="Rectangle 123"/>
            <p:cNvSpPr>
              <a:spLocks noChangeArrowheads="1"/>
            </p:cNvSpPr>
            <p:nvPr userDrawn="1"/>
          </p:nvSpPr>
          <p:spPr bwMode="auto">
            <a:xfrm flipV="1">
              <a:off x="6126" y="3521"/>
              <a:ext cx="116" cy="115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00">
                <a:solidFill>
                  <a:srgbClr val="FFFFFF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28796" name="Rectangle 124"/>
            <p:cNvSpPr>
              <a:spLocks noChangeArrowheads="1"/>
            </p:cNvSpPr>
            <p:nvPr userDrawn="1"/>
          </p:nvSpPr>
          <p:spPr bwMode="auto">
            <a:xfrm flipV="1">
              <a:off x="6242" y="3521"/>
              <a:ext cx="117" cy="115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00">
                <a:solidFill>
                  <a:srgbClr val="FFFFFF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28797" name="Rectangle 125"/>
            <p:cNvSpPr>
              <a:spLocks noChangeArrowheads="1"/>
            </p:cNvSpPr>
            <p:nvPr userDrawn="1"/>
          </p:nvSpPr>
          <p:spPr bwMode="auto">
            <a:xfrm flipV="1">
              <a:off x="5893" y="3521"/>
              <a:ext cx="117" cy="115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00">
                <a:solidFill>
                  <a:srgbClr val="FFFFFF"/>
                </a:solidFill>
                <a:ea typeface="MS PGothic" panose="020B0600070205080204" pitchFamily="34" charset="-128"/>
              </a:endParaRPr>
            </a:p>
          </p:txBody>
        </p:sp>
      </p:grpSp>
      <p:grpSp>
        <p:nvGrpSpPr>
          <p:cNvPr id="11" name="Group 126"/>
          <p:cNvGrpSpPr/>
          <p:nvPr/>
        </p:nvGrpSpPr>
        <p:grpSpPr bwMode="auto">
          <a:xfrm>
            <a:off x="12473518" y="5805488"/>
            <a:ext cx="986366" cy="182562"/>
            <a:chOff x="5893" y="3657"/>
            <a:chExt cx="466" cy="115"/>
          </a:xfrm>
        </p:grpSpPr>
        <p:sp>
          <p:nvSpPr>
            <p:cNvPr id="28799" name="Rectangle 127"/>
            <p:cNvSpPr>
              <a:spLocks noChangeArrowheads="1"/>
            </p:cNvSpPr>
            <p:nvPr userDrawn="1"/>
          </p:nvSpPr>
          <p:spPr bwMode="auto">
            <a:xfrm flipV="1">
              <a:off x="6010" y="3657"/>
              <a:ext cx="116" cy="115"/>
            </a:xfrm>
            <a:prstGeom prst="rect">
              <a:avLst/>
            </a:prstGeom>
            <a:solidFill>
              <a:srgbClr val="009999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00">
                <a:solidFill>
                  <a:srgbClr val="FFFFFF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28800" name="Rectangle 128"/>
            <p:cNvSpPr>
              <a:spLocks noChangeArrowheads="1"/>
            </p:cNvSpPr>
            <p:nvPr userDrawn="1"/>
          </p:nvSpPr>
          <p:spPr bwMode="auto">
            <a:xfrm flipV="1">
              <a:off x="6126" y="3657"/>
              <a:ext cx="116" cy="115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00">
                <a:solidFill>
                  <a:srgbClr val="FFFFFF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28801" name="Rectangle 129"/>
            <p:cNvSpPr>
              <a:spLocks noChangeArrowheads="1"/>
            </p:cNvSpPr>
            <p:nvPr userDrawn="1"/>
          </p:nvSpPr>
          <p:spPr bwMode="auto">
            <a:xfrm flipV="1">
              <a:off x="6242" y="3657"/>
              <a:ext cx="117" cy="115"/>
            </a:xfrm>
            <a:prstGeom prst="rect">
              <a:avLst/>
            </a:prstGeom>
            <a:solidFill>
              <a:srgbClr val="99CCCC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00">
                <a:solidFill>
                  <a:srgbClr val="FFFFFF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28802" name="Rectangle 130"/>
            <p:cNvSpPr>
              <a:spLocks noChangeArrowheads="1"/>
            </p:cNvSpPr>
            <p:nvPr userDrawn="1"/>
          </p:nvSpPr>
          <p:spPr bwMode="auto">
            <a:xfrm flipV="1">
              <a:off x="5893" y="3657"/>
              <a:ext cx="117" cy="115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00">
                <a:solidFill>
                  <a:srgbClr val="FFFFFF"/>
                </a:solidFill>
                <a:ea typeface="MS PGothic" panose="020B0600070205080204" pitchFamily="34" charset="-128"/>
              </a:endParaRPr>
            </a:p>
          </p:txBody>
        </p:sp>
      </p:grpSp>
      <p:grpSp>
        <p:nvGrpSpPr>
          <p:cNvPr id="12" name="Group 131"/>
          <p:cNvGrpSpPr/>
          <p:nvPr/>
        </p:nvGrpSpPr>
        <p:grpSpPr bwMode="auto">
          <a:xfrm>
            <a:off x="12473518" y="6165851"/>
            <a:ext cx="986366" cy="182563"/>
            <a:chOff x="5893" y="3884"/>
            <a:chExt cx="466" cy="115"/>
          </a:xfrm>
        </p:grpSpPr>
        <p:sp>
          <p:nvSpPr>
            <p:cNvPr id="28804" name="Rectangle 132"/>
            <p:cNvSpPr>
              <a:spLocks noChangeArrowheads="1"/>
            </p:cNvSpPr>
            <p:nvPr userDrawn="1"/>
          </p:nvSpPr>
          <p:spPr bwMode="auto">
            <a:xfrm flipV="1">
              <a:off x="6010" y="3884"/>
              <a:ext cx="116" cy="115"/>
            </a:xfrm>
            <a:prstGeom prst="rect">
              <a:avLst/>
            </a:prstGeom>
            <a:solidFill>
              <a:srgbClr val="FF9900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00">
                <a:solidFill>
                  <a:srgbClr val="FFFFFF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28805" name="Rectangle 133"/>
            <p:cNvSpPr>
              <a:spLocks noChangeArrowheads="1"/>
            </p:cNvSpPr>
            <p:nvPr userDrawn="1"/>
          </p:nvSpPr>
          <p:spPr bwMode="auto">
            <a:xfrm flipV="1">
              <a:off x="6126" y="3884"/>
              <a:ext cx="116" cy="115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00">
                <a:solidFill>
                  <a:srgbClr val="FFFFFF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28806" name="Rectangle 134"/>
            <p:cNvSpPr>
              <a:spLocks noChangeArrowheads="1"/>
            </p:cNvSpPr>
            <p:nvPr userDrawn="1"/>
          </p:nvSpPr>
          <p:spPr bwMode="auto">
            <a:xfrm flipV="1">
              <a:off x="6242" y="3884"/>
              <a:ext cx="117" cy="115"/>
            </a:xfrm>
            <a:prstGeom prst="rect">
              <a:avLst/>
            </a:prstGeom>
            <a:solidFill>
              <a:srgbClr val="FFCC66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00">
                <a:solidFill>
                  <a:srgbClr val="FFFFFF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28807" name="Rectangle 135"/>
            <p:cNvSpPr>
              <a:spLocks noChangeArrowheads="1"/>
            </p:cNvSpPr>
            <p:nvPr userDrawn="1"/>
          </p:nvSpPr>
          <p:spPr bwMode="auto">
            <a:xfrm flipV="1">
              <a:off x="5893" y="3884"/>
              <a:ext cx="117" cy="115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00">
                <a:solidFill>
                  <a:srgbClr val="FFFFFF"/>
                </a:solidFill>
                <a:ea typeface="MS PGothic" panose="020B0600070205080204" pitchFamily="34" charset="-128"/>
              </a:endParaRPr>
            </a:p>
          </p:txBody>
        </p:sp>
      </p:grpSp>
      <p:grpSp>
        <p:nvGrpSpPr>
          <p:cNvPr id="13" name="Group 136"/>
          <p:cNvGrpSpPr/>
          <p:nvPr/>
        </p:nvGrpSpPr>
        <p:grpSpPr bwMode="auto">
          <a:xfrm>
            <a:off x="12473518" y="6391276"/>
            <a:ext cx="986366" cy="182563"/>
            <a:chOff x="5893" y="4026"/>
            <a:chExt cx="466" cy="115"/>
          </a:xfrm>
        </p:grpSpPr>
        <p:sp>
          <p:nvSpPr>
            <p:cNvPr id="28809" name="Rectangle 137"/>
            <p:cNvSpPr>
              <a:spLocks noChangeArrowheads="1"/>
            </p:cNvSpPr>
            <p:nvPr userDrawn="1"/>
          </p:nvSpPr>
          <p:spPr bwMode="auto">
            <a:xfrm flipV="1">
              <a:off x="6010" y="4026"/>
              <a:ext cx="116" cy="115"/>
            </a:xfrm>
            <a:prstGeom prst="rect">
              <a:avLst/>
            </a:prstGeom>
            <a:solidFill>
              <a:srgbClr val="006699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00">
                <a:solidFill>
                  <a:srgbClr val="FFFFFF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28810" name="Rectangle 138"/>
            <p:cNvSpPr>
              <a:spLocks noChangeArrowheads="1"/>
            </p:cNvSpPr>
            <p:nvPr userDrawn="1"/>
          </p:nvSpPr>
          <p:spPr bwMode="auto">
            <a:xfrm flipV="1">
              <a:off x="6126" y="4026"/>
              <a:ext cx="116" cy="115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00">
                <a:solidFill>
                  <a:srgbClr val="FFFFFF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28811" name="Rectangle 139"/>
            <p:cNvSpPr>
              <a:spLocks noChangeArrowheads="1"/>
            </p:cNvSpPr>
            <p:nvPr userDrawn="1"/>
          </p:nvSpPr>
          <p:spPr bwMode="auto">
            <a:xfrm flipV="1">
              <a:off x="6242" y="4026"/>
              <a:ext cx="117" cy="115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00">
                <a:solidFill>
                  <a:srgbClr val="FFFFFF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28812" name="Rectangle 140"/>
            <p:cNvSpPr>
              <a:spLocks noChangeArrowheads="1"/>
            </p:cNvSpPr>
            <p:nvPr userDrawn="1"/>
          </p:nvSpPr>
          <p:spPr bwMode="auto">
            <a:xfrm flipV="1">
              <a:off x="5893" y="4026"/>
              <a:ext cx="117" cy="115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00">
                <a:solidFill>
                  <a:srgbClr val="FFFFFF"/>
                </a:solidFill>
                <a:ea typeface="MS PGothic" panose="020B0600070205080204" pitchFamily="34" charset="-128"/>
              </a:endParaRPr>
            </a:p>
          </p:txBody>
        </p:sp>
      </p:grpSp>
      <p:grpSp>
        <p:nvGrpSpPr>
          <p:cNvPr id="14" name="Group 141"/>
          <p:cNvGrpSpPr/>
          <p:nvPr/>
        </p:nvGrpSpPr>
        <p:grpSpPr bwMode="auto">
          <a:xfrm>
            <a:off x="12473518" y="6615113"/>
            <a:ext cx="986366" cy="182562"/>
            <a:chOff x="5893" y="4167"/>
            <a:chExt cx="466" cy="115"/>
          </a:xfrm>
        </p:grpSpPr>
        <p:sp>
          <p:nvSpPr>
            <p:cNvPr id="28814" name="Rectangle 142"/>
            <p:cNvSpPr>
              <a:spLocks noChangeArrowheads="1"/>
            </p:cNvSpPr>
            <p:nvPr userDrawn="1"/>
          </p:nvSpPr>
          <p:spPr bwMode="auto">
            <a:xfrm flipV="1">
              <a:off x="6010" y="4167"/>
              <a:ext cx="116" cy="115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00">
                <a:solidFill>
                  <a:srgbClr val="FFFFFF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28815" name="Rectangle 143"/>
            <p:cNvSpPr>
              <a:spLocks noChangeArrowheads="1"/>
            </p:cNvSpPr>
            <p:nvPr userDrawn="1"/>
          </p:nvSpPr>
          <p:spPr bwMode="auto">
            <a:xfrm flipV="1">
              <a:off x="6126" y="4167"/>
              <a:ext cx="116" cy="115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00">
                <a:solidFill>
                  <a:srgbClr val="FFFFFF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28816" name="Rectangle 144"/>
            <p:cNvSpPr>
              <a:spLocks noChangeArrowheads="1"/>
            </p:cNvSpPr>
            <p:nvPr userDrawn="1"/>
          </p:nvSpPr>
          <p:spPr bwMode="auto">
            <a:xfrm flipV="1">
              <a:off x="6242" y="4167"/>
              <a:ext cx="117" cy="115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00">
                <a:solidFill>
                  <a:srgbClr val="FFFFFF"/>
                </a:solidFill>
                <a:ea typeface="MS PGothic" panose="020B0600070205080204" pitchFamily="34" charset="-128"/>
              </a:endParaRPr>
            </a:p>
          </p:txBody>
        </p:sp>
        <p:sp>
          <p:nvSpPr>
            <p:cNvPr id="28817" name="Rectangle 145"/>
            <p:cNvSpPr>
              <a:spLocks noChangeArrowheads="1"/>
            </p:cNvSpPr>
            <p:nvPr userDrawn="1"/>
          </p:nvSpPr>
          <p:spPr bwMode="auto">
            <a:xfrm flipV="1">
              <a:off x="5893" y="4167"/>
              <a:ext cx="117" cy="115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700">
                <a:solidFill>
                  <a:srgbClr val="FFFFFF"/>
                </a:solidFill>
                <a:ea typeface="MS PGothic" panose="020B0600070205080204" pitchFamily="34" charset="-128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/>
  <p:txStyles>
    <p:titleStyle>
      <a:lvl1pPr algn="l" defTabSz="954405" rtl="0" fontAlgn="base">
        <a:spcBef>
          <a:spcPct val="0"/>
        </a:spcBef>
        <a:spcAft>
          <a:spcPct val="0"/>
        </a:spcAft>
        <a:defRPr sz="4000">
          <a:solidFill>
            <a:srgbClr val="990000"/>
          </a:solidFill>
          <a:latin typeface="+mj-lt"/>
          <a:ea typeface="+mj-ea"/>
          <a:cs typeface="+mj-cs"/>
        </a:defRPr>
      </a:lvl1pPr>
      <a:lvl2pPr algn="l" defTabSz="954405" rtl="0" fontAlgn="base">
        <a:spcBef>
          <a:spcPct val="0"/>
        </a:spcBef>
        <a:spcAft>
          <a:spcPct val="0"/>
        </a:spcAft>
        <a:defRPr sz="4000">
          <a:solidFill>
            <a:srgbClr val="990000"/>
          </a:solidFill>
          <a:latin typeface="Arial" panose="020B0604020202020204" pitchFamily="34" charset="0"/>
          <a:ea typeface="SimHei" panose="02010609060101010101" pitchFamily="2" charset="-122"/>
        </a:defRPr>
      </a:lvl2pPr>
      <a:lvl3pPr algn="l" defTabSz="954405" rtl="0" fontAlgn="base">
        <a:spcBef>
          <a:spcPct val="0"/>
        </a:spcBef>
        <a:spcAft>
          <a:spcPct val="0"/>
        </a:spcAft>
        <a:defRPr sz="4000">
          <a:solidFill>
            <a:srgbClr val="990000"/>
          </a:solidFill>
          <a:latin typeface="Arial" panose="020B0604020202020204" pitchFamily="34" charset="0"/>
          <a:ea typeface="SimHei" panose="02010609060101010101" pitchFamily="2" charset="-122"/>
        </a:defRPr>
      </a:lvl3pPr>
      <a:lvl4pPr algn="l" defTabSz="954405" rtl="0" fontAlgn="base">
        <a:spcBef>
          <a:spcPct val="0"/>
        </a:spcBef>
        <a:spcAft>
          <a:spcPct val="0"/>
        </a:spcAft>
        <a:defRPr sz="4000">
          <a:solidFill>
            <a:srgbClr val="990000"/>
          </a:solidFill>
          <a:latin typeface="Arial" panose="020B0604020202020204" pitchFamily="34" charset="0"/>
          <a:ea typeface="SimHei" panose="02010609060101010101" pitchFamily="2" charset="-122"/>
        </a:defRPr>
      </a:lvl4pPr>
      <a:lvl5pPr algn="l" defTabSz="954405" rtl="0" fontAlgn="base">
        <a:spcBef>
          <a:spcPct val="0"/>
        </a:spcBef>
        <a:spcAft>
          <a:spcPct val="0"/>
        </a:spcAft>
        <a:defRPr sz="4000">
          <a:solidFill>
            <a:srgbClr val="990000"/>
          </a:solidFill>
          <a:latin typeface="Arial" panose="020B0604020202020204" pitchFamily="34" charset="0"/>
          <a:ea typeface="SimHei" panose="02010609060101010101" pitchFamily="2" charset="-122"/>
        </a:defRPr>
      </a:lvl5pPr>
      <a:lvl6pPr marL="544195" algn="l" defTabSz="954405" rtl="0" fontAlgn="base">
        <a:spcBef>
          <a:spcPct val="0"/>
        </a:spcBef>
        <a:spcAft>
          <a:spcPct val="0"/>
        </a:spcAft>
        <a:defRPr sz="4000">
          <a:solidFill>
            <a:srgbClr val="990000"/>
          </a:solidFill>
          <a:latin typeface="Arial" panose="020B0604020202020204" pitchFamily="34" charset="0"/>
          <a:ea typeface="SimHei" panose="02010609060101010101" pitchFamily="2" charset="-122"/>
        </a:defRPr>
      </a:lvl6pPr>
      <a:lvl7pPr marL="1088390" algn="l" defTabSz="954405" rtl="0" fontAlgn="base">
        <a:spcBef>
          <a:spcPct val="0"/>
        </a:spcBef>
        <a:spcAft>
          <a:spcPct val="0"/>
        </a:spcAft>
        <a:defRPr sz="4000">
          <a:solidFill>
            <a:srgbClr val="990000"/>
          </a:solidFill>
          <a:latin typeface="Arial" panose="020B0604020202020204" pitchFamily="34" charset="0"/>
          <a:ea typeface="SimHei" panose="02010609060101010101" pitchFamily="2" charset="-122"/>
        </a:defRPr>
      </a:lvl7pPr>
      <a:lvl8pPr marL="1632585" algn="l" defTabSz="954405" rtl="0" fontAlgn="base">
        <a:spcBef>
          <a:spcPct val="0"/>
        </a:spcBef>
        <a:spcAft>
          <a:spcPct val="0"/>
        </a:spcAft>
        <a:defRPr sz="4000">
          <a:solidFill>
            <a:srgbClr val="990000"/>
          </a:solidFill>
          <a:latin typeface="Arial" panose="020B0604020202020204" pitchFamily="34" charset="0"/>
          <a:ea typeface="SimHei" panose="02010609060101010101" pitchFamily="2" charset="-122"/>
        </a:defRPr>
      </a:lvl8pPr>
      <a:lvl9pPr marL="2176780" algn="l" defTabSz="954405" rtl="0" fontAlgn="base">
        <a:spcBef>
          <a:spcPct val="0"/>
        </a:spcBef>
        <a:spcAft>
          <a:spcPct val="0"/>
        </a:spcAft>
        <a:defRPr sz="4000">
          <a:solidFill>
            <a:srgbClr val="990000"/>
          </a:solidFill>
          <a:latin typeface="Arial" panose="020B0604020202020204" pitchFamily="34" charset="0"/>
          <a:ea typeface="SimHei" panose="02010609060101010101" pitchFamily="2" charset="-122"/>
        </a:defRPr>
      </a:lvl9pPr>
    </p:titleStyle>
    <p:bodyStyle>
      <a:lvl1pPr marL="356870" indent="-356870" algn="l" defTabSz="954405" rtl="0" fontAlgn="base">
        <a:lnSpc>
          <a:spcPct val="140000"/>
        </a:lnSpc>
        <a:spcBef>
          <a:spcPct val="0"/>
        </a:spcBef>
        <a:spcAft>
          <a:spcPct val="0"/>
        </a:spcAft>
        <a:buClr>
          <a:schemeClr val="bg2"/>
        </a:buClr>
        <a:buSzPct val="60000"/>
        <a:buFont typeface="Wingdings" panose="05000000000000000000" pitchFamily="2" charset="2"/>
        <a:buChar char="l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76605" indent="-298450" algn="l" defTabSz="954405" rtl="0" fontAlgn="base">
        <a:lnSpc>
          <a:spcPct val="140000"/>
        </a:lnSpc>
        <a:spcBef>
          <a:spcPct val="0"/>
        </a:spcBef>
        <a:spcAft>
          <a:spcPct val="0"/>
        </a:spcAft>
        <a:buClr>
          <a:schemeClr val="tx1"/>
        </a:buClr>
        <a:buSzPct val="50000"/>
        <a:buFont typeface="Wingdings" panose="05000000000000000000" pitchFamily="2" charset="2"/>
        <a:buChar char="p"/>
        <a:defRPr>
          <a:solidFill>
            <a:schemeClr val="tx1"/>
          </a:solidFill>
          <a:latin typeface="+mn-lt"/>
          <a:ea typeface="+mn-ea"/>
        </a:defRPr>
      </a:lvl2pPr>
      <a:lvl3pPr marL="1193800" indent="-240030" algn="l" defTabSz="954405" rtl="0" fontAlgn="base">
        <a:lnSpc>
          <a:spcPct val="140000"/>
        </a:lnSpc>
        <a:spcBef>
          <a:spcPct val="0"/>
        </a:spcBef>
        <a:spcAft>
          <a:spcPct val="0"/>
        </a:spcAft>
        <a:buSzPct val="50000"/>
        <a:buFont typeface="Wingdings" panose="05000000000000000000" pitchFamily="2" charset="2"/>
        <a:buChar char="n"/>
        <a:defRPr sz="1900">
          <a:solidFill>
            <a:schemeClr val="tx1"/>
          </a:solidFill>
          <a:latin typeface="+mn-lt"/>
          <a:ea typeface="+mn-ea"/>
        </a:defRPr>
      </a:lvl3pPr>
      <a:lvl4pPr marL="1668145" indent="-238125" algn="l" defTabSz="954405" rtl="0" fontAlgn="base">
        <a:lnSpc>
          <a:spcPct val="140000"/>
        </a:lnSpc>
        <a:spcBef>
          <a:spcPct val="0"/>
        </a:spcBef>
        <a:spcAft>
          <a:spcPct val="0"/>
        </a:spcAft>
        <a:buChar char="–"/>
        <a:defRPr sz="1700">
          <a:solidFill>
            <a:schemeClr val="tx1"/>
          </a:solidFill>
          <a:latin typeface="+mn-lt"/>
          <a:ea typeface="+mn-ea"/>
        </a:defRPr>
      </a:lvl4pPr>
      <a:lvl5pPr marL="2146300" indent="-240030" algn="l" defTabSz="954405" rtl="0" fontAlgn="base">
        <a:lnSpc>
          <a:spcPct val="140000"/>
        </a:lnSpc>
        <a:spcBef>
          <a:spcPct val="0"/>
        </a:spcBef>
        <a:spcAft>
          <a:spcPct val="0"/>
        </a:spcAft>
        <a:buFont typeface="FrutigerNext LT Medium" pitchFamily="34" charset="0"/>
        <a:buChar char="~"/>
        <a:defRPr sz="1400">
          <a:solidFill>
            <a:schemeClr val="tx1"/>
          </a:solidFill>
          <a:latin typeface="+mn-lt"/>
          <a:ea typeface="+mn-ea"/>
        </a:defRPr>
      </a:lvl5pPr>
      <a:lvl6pPr marL="2690495" indent="-240030" algn="l" defTabSz="954405" rtl="0" fontAlgn="base">
        <a:lnSpc>
          <a:spcPct val="140000"/>
        </a:lnSpc>
        <a:spcBef>
          <a:spcPct val="0"/>
        </a:spcBef>
        <a:spcAft>
          <a:spcPct val="0"/>
        </a:spcAft>
        <a:buFont typeface="FrutigerNext LT Medium" pitchFamily="34" charset="0"/>
        <a:buChar char="~"/>
        <a:defRPr sz="1400">
          <a:solidFill>
            <a:schemeClr val="tx1"/>
          </a:solidFill>
          <a:latin typeface="+mn-lt"/>
          <a:ea typeface="+mn-ea"/>
        </a:defRPr>
      </a:lvl6pPr>
      <a:lvl7pPr marL="3234690" indent="-240030" algn="l" defTabSz="954405" rtl="0" fontAlgn="base">
        <a:lnSpc>
          <a:spcPct val="140000"/>
        </a:lnSpc>
        <a:spcBef>
          <a:spcPct val="0"/>
        </a:spcBef>
        <a:spcAft>
          <a:spcPct val="0"/>
        </a:spcAft>
        <a:buFont typeface="FrutigerNext LT Medium" pitchFamily="34" charset="0"/>
        <a:buChar char="~"/>
        <a:defRPr sz="1400">
          <a:solidFill>
            <a:schemeClr val="tx1"/>
          </a:solidFill>
          <a:latin typeface="+mn-lt"/>
          <a:ea typeface="+mn-ea"/>
        </a:defRPr>
      </a:lvl7pPr>
      <a:lvl8pPr marL="3778885" indent="-240030" algn="l" defTabSz="954405" rtl="0" fontAlgn="base">
        <a:lnSpc>
          <a:spcPct val="140000"/>
        </a:lnSpc>
        <a:spcBef>
          <a:spcPct val="0"/>
        </a:spcBef>
        <a:spcAft>
          <a:spcPct val="0"/>
        </a:spcAft>
        <a:buFont typeface="FrutigerNext LT Medium" pitchFamily="34" charset="0"/>
        <a:buChar char="~"/>
        <a:defRPr sz="1400">
          <a:solidFill>
            <a:schemeClr val="tx1"/>
          </a:solidFill>
          <a:latin typeface="+mn-lt"/>
          <a:ea typeface="+mn-ea"/>
        </a:defRPr>
      </a:lvl8pPr>
      <a:lvl9pPr marL="4323080" indent="-240030" algn="l" defTabSz="954405" rtl="0" fontAlgn="base">
        <a:lnSpc>
          <a:spcPct val="140000"/>
        </a:lnSpc>
        <a:spcBef>
          <a:spcPct val="0"/>
        </a:spcBef>
        <a:spcAft>
          <a:spcPct val="0"/>
        </a:spcAft>
        <a:buFont typeface="FrutigerNext LT Medium" pitchFamily="34" charset="0"/>
        <a:buChar char="~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19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39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58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678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097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453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873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292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2235" y="5239240"/>
            <a:ext cx="1874868" cy="4059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6903" y="1474840"/>
            <a:ext cx="3982676" cy="2816080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1"/>
          <p:cNvSpPr txBox="1"/>
          <p:nvPr userDrawn="1"/>
        </p:nvSpPr>
        <p:spPr>
          <a:xfrm>
            <a:off x="7976241" y="2343267"/>
            <a:ext cx="3223909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dirty="0">
                <a:solidFill>
                  <a:srgbClr val="1D1D1B"/>
                </a:solidFill>
                <a:latin typeface="Arial" panose="020B0604020202020204"/>
              </a:rPr>
              <a:t>Copyright©2018 Huawei Technologies Co., Ltd.</a:t>
            </a:r>
            <a:br>
              <a:rPr kumimoji="1" lang="en-US" altLang="zh-CN" sz="850" b="1" dirty="0">
                <a:solidFill>
                  <a:srgbClr val="1D1D1B"/>
                </a:solidFill>
                <a:latin typeface="Arial" panose="020B0604020202020204"/>
              </a:rPr>
            </a:br>
            <a:r>
              <a:rPr kumimoji="1" lang="en-US" altLang="zh-CN" sz="850" b="1" dirty="0">
                <a:solidFill>
                  <a:srgbClr val="1D1D1B"/>
                </a:solidFill>
                <a:latin typeface="Arial" panose="020B0604020202020204"/>
              </a:rPr>
              <a:t>All Rights Reserved.</a:t>
            </a:r>
            <a:br>
              <a:rPr kumimoji="1" lang="en-US" altLang="zh-CN" sz="780" dirty="0">
                <a:solidFill>
                  <a:srgbClr val="1D1D1B"/>
                </a:solidFill>
                <a:latin typeface="Arial" panose="020B0604020202020204"/>
              </a:rPr>
            </a:br>
            <a:br>
              <a:rPr kumimoji="1" lang="en-US" altLang="zh-CN" sz="780" dirty="0">
                <a:solidFill>
                  <a:srgbClr val="1D1D1B"/>
                </a:solidFill>
                <a:latin typeface="Arial" panose="020B0604020202020204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80" dirty="0">
              <a:solidFill>
                <a:srgbClr val="1D1D1B"/>
              </a:solidFill>
              <a:latin typeface="Arial" panose="020B0604020202020204"/>
            </a:endParaRPr>
          </a:p>
        </p:txBody>
      </p:sp>
      <p:sp>
        <p:nvSpPr>
          <p:cNvPr id="9" name="Subtitle 6"/>
          <p:cNvSpPr txBox="1"/>
          <p:nvPr userDrawn="1"/>
        </p:nvSpPr>
        <p:spPr>
          <a:xfrm>
            <a:off x="7974557" y="1654431"/>
            <a:ext cx="348047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5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Arial" panose="020B0604020202020204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hdr="0" ftr="0" dt="0"/>
  <p:txStyles>
    <p:titleStyle>
      <a:lvl1pPr algn="l" defTabSz="1187450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450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None/>
        <a:defRPr sz="1820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725" indent="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187450" indent="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1781175" indent="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4900" indent="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517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889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262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634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745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117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490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86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171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544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916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040" y="6356939"/>
            <a:ext cx="1462895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975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3845" y="6402806"/>
            <a:ext cx="499534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270"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75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018" y="6319871"/>
            <a:ext cx="1268579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305353" y="2949355"/>
            <a:ext cx="1888296" cy="3917264"/>
            <a:chOff x="12310160" y="2282859"/>
            <a:chExt cx="1889034" cy="4583761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0160" y="2282859"/>
              <a:ext cx="1889034" cy="672242"/>
              <a:chOff x="12310160" y="2227995"/>
              <a:chExt cx="1889034" cy="672242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186C</a:t>
                </a:r>
              </a:p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200/16/46</a:t>
                </a: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185C</a:t>
                </a:r>
              </a:p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199/0/11</a:t>
                </a: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10160" y="2227995"/>
                <a:ext cx="613951" cy="1440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914400"/>
                <a:r>
                  <a:rPr kumimoji="1" lang="en-US" altLang="zh-CN" sz="800" dirty="0">
                    <a:solidFill>
                      <a:srgbClr val="1D1D1A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Brand colors</a:t>
                </a:r>
                <a:endParaRPr kumimoji="1" lang="zh-CN" altLang="en-US" sz="800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315636" y="3056484"/>
              <a:ext cx="1883554" cy="3810136"/>
              <a:chOff x="12315636" y="3056484"/>
              <a:chExt cx="1883554" cy="3810136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234/90/79</a:t>
                </a: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120/0/15</a:t>
                </a: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320783" y="3056484"/>
                <a:ext cx="1221048" cy="16206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defTabSz="914400"/>
                <a:r>
                  <a:rPr kumimoji="1" lang="en-US" altLang="zh-CN" sz="900" dirty="0">
                    <a:solidFill>
                      <a:srgbClr val="1D1D1A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Supporting colors</a:t>
                </a:r>
                <a:endParaRPr kumimoji="1" lang="zh-CN" altLang="en-US" sz="900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248/181/60</a:t>
                </a: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235/92/1</a:t>
                </a: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137/137/137</a:t>
                </a: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35/24/21</a:t>
                </a: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221/221/221</a:t>
                </a: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233/140/128</a:t>
                </a: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159/0/1</a:t>
                </a: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245/220/87</a:t>
                </a: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240/133/0</a:t>
                </a: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181/181/181</a:t>
                </a: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89/87/87</a:t>
                </a: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255/255/255</a:t>
                </a: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hf hdr="0" ftr="0" dt="0"/>
  <p:txStyles>
    <p:titleStyle>
      <a:lvl1pPr algn="l" defTabSz="1187450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7450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399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772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7144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517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889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262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634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745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117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490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86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171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544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916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040" y="6356940"/>
            <a:ext cx="14628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10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3845" y="6402806"/>
            <a:ext cx="499534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270">
              <a:defRPr/>
            </a:pPr>
            <a:fld id="{C3837181-38C6-AD4F-B8BA-B444770388BB}" type="slidenum">
              <a:rPr lang="en-US" sz="975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75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12211507" y="2931937"/>
            <a:ext cx="1982142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186C</a:t>
                </a:r>
              </a:p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200/16/46</a:t>
                </a: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185C</a:t>
                </a:r>
              </a:p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199/0/11</a:t>
                </a: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6898" y="2207613"/>
                <a:ext cx="384721" cy="1800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 defTabSz="914400"/>
                <a:r>
                  <a:rPr kumimoji="1" lang="zh-CN" altLang="en-US" sz="1000" dirty="0">
                    <a:solidFill>
                      <a:srgbClr val="1D1D1A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54642"/>
              <a:ext cx="1982912" cy="3811978"/>
              <a:chOff x="12216278" y="3054642"/>
              <a:chExt cx="1982912" cy="3811978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234/90/79</a:t>
                </a: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120/0/15</a:t>
                </a: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54642"/>
                <a:ext cx="569387" cy="18007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 defTabSz="914400"/>
                <a:r>
                  <a:rPr kumimoji="1" lang="zh-CN" altLang="en-US" sz="1000" dirty="0">
                    <a:solidFill>
                      <a:srgbClr val="1D1D1A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248/181/60</a:t>
                </a: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235/92/1</a:t>
                </a: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137/137/137</a:t>
                </a: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35/24/21</a:t>
                </a: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221/221/221</a:t>
                </a: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233/140/128</a:t>
                </a: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159/0/1</a:t>
                </a: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245/220/87</a:t>
                </a: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240/133/0</a:t>
                </a: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181/181/181</a:t>
                </a: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89/87/87</a:t>
                </a: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255/255/255</a:t>
                </a:r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017" y="6321130"/>
            <a:ext cx="1268579" cy="27754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</p:sldLayoutIdLst>
  <p:hf hdr="0" ftr="0" dt="0"/>
  <p:txStyles>
    <p:titleStyle>
      <a:lvl1pPr algn="l" defTabSz="1187450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7450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399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772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7144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517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889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262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634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745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117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490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86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171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544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916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040" y="6356939"/>
            <a:ext cx="1462895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975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3845" y="6402806"/>
            <a:ext cx="499534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270"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75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018" y="6319871"/>
            <a:ext cx="1268579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305353" y="2949355"/>
            <a:ext cx="1888296" cy="3917264"/>
            <a:chOff x="12310160" y="2282859"/>
            <a:chExt cx="1889034" cy="4583761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0160" y="2282859"/>
              <a:ext cx="1889034" cy="672242"/>
              <a:chOff x="12310160" y="2227995"/>
              <a:chExt cx="1889034" cy="672242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186C</a:t>
                </a:r>
              </a:p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200/16/46</a:t>
                </a: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185C</a:t>
                </a:r>
              </a:p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199/0/11</a:t>
                </a: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10160" y="2227995"/>
                <a:ext cx="613951" cy="1440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914400"/>
                <a:r>
                  <a:rPr kumimoji="1" lang="en-US" altLang="zh-CN" sz="800" dirty="0">
                    <a:solidFill>
                      <a:srgbClr val="1D1D1A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Brand colors</a:t>
                </a:r>
                <a:endParaRPr kumimoji="1" lang="zh-CN" altLang="en-US" sz="800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315636" y="3056484"/>
              <a:ext cx="1883554" cy="3810136"/>
              <a:chOff x="12315636" y="3056484"/>
              <a:chExt cx="1883554" cy="3810136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234/90/79</a:t>
                </a: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120/0/15</a:t>
                </a: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320783" y="3056484"/>
                <a:ext cx="1221048" cy="16206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defTabSz="914400"/>
                <a:r>
                  <a:rPr kumimoji="1" lang="en-US" altLang="zh-CN" sz="900" dirty="0">
                    <a:solidFill>
                      <a:srgbClr val="1D1D1A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Supporting colors</a:t>
                </a:r>
                <a:endParaRPr kumimoji="1" lang="zh-CN" altLang="en-US" sz="900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248/181/60</a:t>
                </a: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235/92/1</a:t>
                </a: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137/137/137</a:t>
                </a: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35/24/21</a:t>
                </a: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221/221/221</a:t>
                </a: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233/140/128</a:t>
                </a: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159/0/1</a:t>
                </a: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245/220/87</a:t>
                </a: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240/133/0</a:t>
                </a: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181/181/181</a:t>
                </a: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89/87/87</a:t>
                </a: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255/255/255</a:t>
                </a: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450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7450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399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772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7144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517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889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262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634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745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117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490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86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171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544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916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908954" y="6270652"/>
            <a:ext cx="1981542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38" name="图片 37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3089" y="5976169"/>
            <a:ext cx="2257507" cy="48253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hf hdr="0" ftr="0" dt="0"/>
  <p:txStyles>
    <p:titleStyle>
      <a:lvl1pPr algn="l" defTabSz="913765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3765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3765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3765" indent="0" algn="l" defTabSz="913765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0965" indent="0" algn="l" defTabSz="913765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165" indent="0" algn="l" defTabSz="913765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33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5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7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9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1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 sz="quarter"/>
          </p:nvPr>
        </p:nvSpPr>
        <p:spPr>
          <a:xfrm>
            <a:off x="394633" y="1134040"/>
            <a:ext cx="9746061" cy="1666875"/>
          </a:xfrm>
        </p:spPr>
        <p:txBody>
          <a:bodyPr/>
          <a:lstStyle/>
          <a:p>
            <a:r>
              <a:rPr lang="en-US" altLang="zh-CN" sz="3200" dirty="0"/>
              <a:t>JNI2AKI implementation</a:t>
            </a:r>
            <a:endParaRPr lang="zh-CN" altLang="zh-CN" sz="3200" dirty="0"/>
          </a:p>
        </p:txBody>
      </p:sp>
      <p:sp>
        <p:nvSpPr>
          <p:cNvPr id="7" name="Subtitle 6"/>
          <p:cNvSpPr>
            <a:spLocks noGrp="1"/>
          </p:cNvSpPr>
          <p:nvPr>
            <p:ph type="subTitle" sz="quarter" idx="1"/>
          </p:nvPr>
        </p:nvSpPr>
        <p:spPr>
          <a:xfrm>
            <a:off x="394634" y="2452716"/>
            <a:ext cx="7074569" cy="865187"/>
          </a:xfrm>
        </p:spPr>
        <p:txBody>
          <a:bodyPr/>
          <a:lstStyle/>
          <a:p>
            <a:r>
              <a:rPr lang="en-CA" altLang="zh-CN" sz="1800" b="0" dirty="0"/>
              <a:t>Canadian R&amp;D Institute CBG Team</a:t>
            </a:r>
            <a:endParaRPr lang="zh-CN" altLang="en-US" sz="1800" b="0" dirty="0"/>
          </a:p>
        </p:txBody>
      </p:sp>
      <p:sp>
        <p:nvSpPr>
          <p:cNvPr id="2" name="Rectangle 1"/>
          <p:cNvSpPr/>
          <p:nvPr/>
        </p:nvSpPr>
        <p:spPr>
          <a:xfrm>
            <a:off x="394633" y="3427494"/>
            <a:ext cx="181427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</a:rPr>
              <a:t>Tony Zhu t84149270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3DC25D-DB16-EB1B-0BB0-A6F45E3DD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Scenario-</a:t>
            </a:r>
            <a:r>
              <a:rPr lang="zh-CN" altLang="en-US" dirty="0"/>
              <a:t> </a:t>
            </a:r>
            <a:r>
              <a:rPr lang="en-US" altLang="zh-CN" dirty="0"/>
              <a:t>directly call</a:t>
            </a:r>
            <a:endParaRPr lang="en-US" dirty="0"/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656B62EA-2EAC-2B75-DDE8-2307EE2F7022}"/>
              </a:ext>
            </a:extLst>
          </p:cNvPr>
          <p:cNvSpPr txBox="1"/>
          <p:nvPr/>
        </p:nvSpPr>
        <p:spPr>
          <a:xfrm>
            <a:off x="2339584" y="1066800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java</a:t>
            </a:r>
            <a:endParaRPr lang="en-CA" dirty="0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BAB9169B-31F1-789C-B0C8-34751E30E355}"/>
              </a:ext>
            </a:extLst>
          </p:cNvPr>
          <p:cNvSpPr txBox="1"/>
          <p:nvPr/>
        </p:nvSpPr>
        <p:spPr>
          <a:xfrm>
            <a:off x="2378056" y="2837516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JNI</a:t>
            </a:r>
            <a:endParaRPr lang="en-CA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1A5FD6CE-4926-09F3-581C-1C7DA3F59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960" y="1459616"/>
            <a:ext cx="3927107" cy="131932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45720" rIns="91440" bIns="0" numCol="1" anchor="ctr" anchorCtr="0" compatLnSpc="1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CA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package </a:t>
            </a:r>
            <a:r>
              <a:rPr kumimoji="0" lang="en-CA" altLang="en-US" sz="14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com.example.jnidemo</a:t>
            </a:r>
            <a:r>
              <a:rPr kumimoji="0" lang="en-CA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;</a:t>
            </a:r>
            <a:br>
              <a:rPr kumimoji="0" lang="en-CA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</a:br>
            <a:br>
              <a:rPr kumimoji="0" lang="en-CA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</a:br>
            <a:r>
              <a:rPr kumimoji="0" lang="en-CA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public class </a:t>
            </a:r>
            <a:r>
              <a:rPr kumimoji="0" lang="en-CA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Hello {</a:t>
            </a:r>
            <a:br>
              <a:rPr kumimoji="0" lang="en-CA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</a:br>
            <a:r>
              <a:rPr kumimoji="0" lang="en-CA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    </a:t>
            </a:r>
            <a:r>
              <a:rPr kumimoji="0" lang="en-CA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public native int </a:t>
            </a:r>
            <a:r>
              <a:rPr lang="en-CA" altLang="en-US" sz="1400" dirty="0">
                <a:solidFill>
                  <a:srgbClr val="FFC66D"/>
                </a:solidFill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a</a:t>
            </a:r>
            <a:r>
              <a:rPr kumimoji="0" lang="en-CA" altLang="en-US" sz="1400" b="0" i="0" u="none" strike="noStrike" cap="none" normalizeH="0" baseline="0" dirty="0">
                <a:ln>
                  <a:noFill/>
                </a:ln>
                <a:solidFill>
                  <a:srgbClr val="FFC66D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dd</a:t>
            </a:r>
            <a:r>
              <a:rPr kumimoji="0" lang="en-CA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(</a:t>
            </a:r>
            <a:r>
              <a:rPr kumimoji="0" lang="en-CA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int </a:t>
            </a:r>
            <a:r>
              <a:rPr kumimoji="0" lang="en-CA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a</a:t>
            </a:r>
            <a:r>
              <a:rPr kumimoji="0" lang="en-CA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, int </a:t>
            </a:r>
            <a:r>
              <a:rPr kumimoji="0" lang="en-CA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b)</a:t>
            </a:r>
            <a:r>
              <a:rPr kumimoji="0" lang="en-CA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CA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    public native String </a:t>
            </a:r>
            <a:r>
              <a:rPr lang="en-CA" altLang="en-US" sz="1400" dirty="0" err="1">
                <a:solidFill>
                  <a:srgbClr val="FFC66D"/>
                </a:solidFill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s</a:t>
            </a:r>
            <a:r>
              <a:rPr kumimoji="0" lang="en-CA" altLang="en-US" sz="1400" b="0" i="0" u="none" strike="noStrike" cap="none" normalizeH="0" baseline="0" dirty="0" err="1">
                <a:ln>
                  <a:noFill/>
                </a:ln>
                <a:solidFill>
                  <a:srgbClr val="FFC66D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ayHello</a:t>
            </a:r>
            <a:r>
              <a:rPr kumimoji="0" lang="en-CA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()</a:t>
            </a:r>
            <a:r>
              <a:rPr kumimoji="0" lang="en-CA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;</a:t>
            </a:r>
            <a:r>
              <a:rPr lang="en-CA" altLang="en-US" sz="1400" dirty="0">
                <a:solidFill>
                  <a:srgbClr val="CC7832"/>
                </a:solidFill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    </a:t>
            </a:r>
            <a:br>
              <a:rPr kumimoji="0" lang="en-CA" altLang="en-US" sz="1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</a:br>
            <a:r>
              <a:rPr kumimoji="0" lang="en-CA" altLang="en-US" sz="1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}</a:t>
            </a:r>
            <a:r>
              <a:rPr kumimoji="0" lang="en-CA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CA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58692140-7035-ED63-1981-8BA6B1B09C25}"/>
              </a:ext>
            </a:extLst>
          </p:cNvPr>
          <p:cNvSpPr txBox="1"/>
          <p:nvPr/>
        </p:nvSpPr>
        <p:spPr>
          <a:xfrm>
            <a:off x="8513489" y="1072999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d.ts</a:t>
            </a:r>
            <a:endParaRPr lang="en-CA" dirty="0"/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D5AA591A-C0DA-D6D4-9B04-5807AD09272D}"/>
              </a:ext>
            </a:extLst>
          </p:cNvPr>
          <p:cNvSpPr txBox="1"/>
          <p:nvPr/>
        </p:nvSpPr>
        <p:spPr>
          <a:xfrm>
            <a:off x="8551961" y="2839149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aki</a:t>
            </a:r>
            <a:endParaRPr lang="en-CA" dirty="0"/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D149502F-1561-D872-E9F8-284A7746CDC8}"/>
              </a:ext>
            </a:extLst>
          </p:cNvPr>
          <p:cNvSpPr/>
          <p:nvPr/>
        </p:nvSpPr>
        <p:spPr bwMode="auto">
          <a:xfrm>
            <a:off x="539234" y="1093758"/>
            <a:ext cx="4208559" cy="459981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9200" tIns="39600" rIns="79200" bIns="39600" numCol="1" rtlCol="0" anchor="t" anchorCtr="0" compatLnSpc="1">
            <a:noAutofit/>
          </a:bodyPr>
          <a:lstStyle/>
          <a:p>
            <a:pPr marL="0" marR="0" indent="0" algn="l" defTabSz="8020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CA" sz="1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6" name="Rectangle 14">
            <a:extLst>
              <a:ext uri="{FF2B5EF4-FFF2-40B4-BE49-F238E27FC236}">
                <a16:creationId xmlns:a16="http://schemas.microsoft.com/office/drawing/2014/main" id="{A1AF32F0-179B-8210-2234-6C16C4573DB0}"/>
              </a:ext>
            </a:extLst>
          </p:cNvPr>
          <p:cNvSpPr/>
          <p:nvPr/>
        </p:nvSpPr>
        <p:spPr bwMode="auto">
          <a:xfrm>
            <a:off x="6096000" y="1066800"/>
            <a:ext cx="5391540" cy="46267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9200" tIns="39600" rIns="79200" bIns="39600" numCol="1" rtlCol="0" anchor="t" anchorCtr="0" compatLnSpc="1">
            <a:noAutofit/>
          </a:bodyPr>
          <a:lstStyle/>
          <a:p>
            <a:pPr marL="0" marR="0" indent="0" algn="l" defTabSz="8020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CA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7" name="Right Arrow 15">
            <a:extLst>
              <a:ext uri="{FF2B5EF4-FFF2-40B4-BE49-F238E27FC236}">
                <a16:creationId xmlns:a16="http://schemas.microsoft.com/office/drawing/2014/main" id="{D274732E-143C-CDD8-28F5-BEF733B6651A}"/>
              </a:ext>
            </a:extLst>
          </p:cNvPr>
          <p:cNvSpPr/>
          <p:nvPr/>
        </p:nvSpPr>
        <p:spPr bwMode="auto">
          <a:xfrm>
            <a:off x="5086738" y="3157003"/>
            <a:ext cx="768047" cy="523550"/>
          </a:xfrm>
          <a:prstGeom prst="right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9200" tIns="39600" rIns="79200" bIns="39600" numCol="1" rtlCol="0" anchor="t" anchorCtr="0" compatLnSpc="1">
            <a:noAutofit/>
          </a:bodyPr>
          <a:lstStyle/>
          <a:p>
            <a:pPr marL="0" marR="0" indent="0" algn="l" defTabSz="8020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CA" sz="1400" b="0" i="0" u="none" strike="noStrike" cap="none" normalizeH="0" baseline="0">
              <a:ln>
                <a:noFill/>
              </a:ln>
              <a:noFill/>
              <a:effectLst/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5" name="Rectangle 1">
            <a:extLst>
              <a:ext uri="{FF2B5EF4-FFF2-40B4-BE49-F238E27FC236}">
                <a16:creationId xmlns:a16="http://schemas.microsoft.com/office/drawing/2014/main" id="{CEB71435-8A16-D40B-1476-7F2A2323F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1763" y="3149358"/>
            <a:ext cx="5180014" cy="2498165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int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C66D"/>
                </a:solidFill>
                <a:effectLst/>
                <a:latin typeface="Arial Unicode MS"/>
                <a:ea typeface="JetBrains Mono"/>
              </a:rPr>
              <a:t>add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int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, int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b) {    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return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a + b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;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</a:b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std::string </a:t>
            </a:r>
            <a:r>
              <a:rPr lang="en-US" altLang="en-US" sz="1200" dirty="0">
                <a:solidFill>
                  <a:srgbClr val="FFC66D"/>
                </a:solidFill>
                <a:latin typeface="Arial Unicode MS"/>
                <a:ea typeface="JetBrains Mono"/>
              </a:rPr>
              <a:t>sayHello</a:t>
            </a: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() {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    </a:t>
            </a:r>
            <a:r>
              <a:rPr lang="en-US" altLang="en-US" sz="1200" dirty="0">
                <a:solidFill>
                  <a:srgbClr val="CC7832"/>
                </a:solidFill>
                <a:latin typeface="Arial Unicode MS"/>
                <a:ea typeface="JetBrains Mono"/>
              </a:rPr>
              <a:t>return </a:t>
            </a:r>
            <a:r>
              <a:rPr lang="en-US" altLang="en-US" sz="1200" dirty="0">
                <a:solidFill>
                  <a:srgbClr val="6A8759"/>
                </a:solidFill>
                <a:latin typeface="Arial Unicode MS"/>
                <a:ea typeface="JetBrains Mono"/>
              </a:rPr>
              <a:t>"Thank you!"</a:t>
            </a:r>
            <a:r>
              <a:rPr lang="en-US" altLang="en-US" sz="1200" dirty="0">
                <a:solidFill>
                  <a:srgbClr val="CC7832"/>
                </a:solidFill>
                <a:latin typeface="Arial Unicode MS"/>
                <a:ea typeface="JetBrains Mono"/>
              </a:rPr>
              <a:t>;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}</a:t>
            </a:r>
            <a:endParaRPr lang="en-US" altLang="en-US" sz="12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BB529"/>
                </a:solidFill>
                <a:effectLst/>
                <a:latin typeface="Arial Unicode MS"/>
                <a:ea typeface="JetBrains Mono"/>
              </a:rPr>
              <a:t>JSBIND_GLOBAL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BB529"/>
                </a:solidFill>
                <a:effectLst/>
                <a:latin typeface="Arial Unicode MS"/>
                <a:ea typeface="JetBrains Mono"/>
              </a:rPr>
              <a:t>JSBIND_FUNCTION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C66D"/>
                </a:solidFill>
                <a:effectLst/>
                <a:latin typeface="Arial Unicode MS"/>
                <a:ea typeface="JetBrains Mono"/>
              </a:rPr>
              <a:t>add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BB529"/>
                </a:solidFill>
                <a:effectLst/>
                <a:latin typeface="Arial Unicode MS"/>
                <a:ea typeface="JetBrains Mono"/>
              </a:rPr>
              <a:t>   JSBIND_FUNCTION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FFC66D"/>
                </a:solidFill>
                <a:effectLst/>
                <a:latin typeface="Arial Unicode MS"/>
                <a:ea typeface="JetBrains Mono"/>
              </a:rPr>
              <a:t>sayHello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BB529"/>
                </a:solidFill>
                <a:effectLst/>
                <a:latin typeface="Arial Unicode MS"/>
                <a:ea typeface="JetBrains Mono"/>
              </a:rPr>
              <a:t>JSBIND_ADDON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(entry)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Rectangle 1">
            <a:extLst>
              <a:ext uri="{FF2B5EF4-FFF2-40B4-BE49-F238E27FC236}">
                <a16:creationId xmlns:a16="http://schemas.microsoft.com/office/drawing/2014/main" id="{3A3AEEA5-8C84-F455-40C7-C2CDDFE283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0257" y="1459616"/>
            <a:ext cx="5143026" cy="1319321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export const 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  <a:ea typeface="JetBrains Mono"/>
              </a:rPr>
              <a:t>add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DB7E9B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  <a:ea typeface="JetBrains Mono"/>
              </a:rPr>
              <a:t>num1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number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  <a:ea typeface="JetBrains Mono"/>
              </a:rPr>
              <a:t>num2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number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DB7E9B"/>
                </a:solidFill>
                <a:effectLst/>
                <a:latin typeface="Arial Unicode MS"/>
                <a:ea typeface="JetBrains Mono"/>
              </a:rPr>
              <a:t>) 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=&gt; 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number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export const </a:t>
            </a:r>
            <a:r>
              <a:rPr lang="en-US" altLang="en-US" sz="1200" dirty="0">
                <a:solidFill>
                  <a:schemeClr val="bg1"/>
                </a:solidFill>
                <a:latin typeface="Arial Unicode MS"/>
                <a:ea typeface="JetBrains Mono"/>
              </a:rPr>
              <a:t>s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ea typeface="JetBrains Mono"/>
              </a:rPr>
              <a:t>ayHello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DB7E9B"/>
                </a:solidFill>
                <a:effectLst/>
                <a:latin typeface="Arial Unicode MS"/>
                <a:ea typeface="JetBrains Mono"/>
              </a:rPr>
              <a:t>() 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=&gt; 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string</a:t>
            </a:r>
            <a:endParaRPr kumimoji="0" lang="en-US" altLang="en-US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167390C-039F-2EFC-8B26-B4EFA581D00C}"/>
              </a:ext>
            </a:extLst>
          </p:cNvPr>
          <p:cNvSpPr txBox="1"/>
          <p:nvPr/>
        </p:nvSpPr>
        <p:spPr>
          <a:xfrm>
            <a:off x="674790" y="3153789"/>
            <a:ext cx="3937446" cy="249373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/>
          <a:p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extern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"C“ JNIEXPORT </a:t>
            </a:r>
            <a:r>
              <a:rPr lang="en-U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jint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JNICAL</a:t>
            </a:r>
            <a:r>
              <a:rPr lang="en-US" sz="1100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L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Java_com_example_jnidemo_Hello_add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JNIEnv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env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jobject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thiz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jint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jint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extern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"C“ JNIEXPORT </a:t>
            </a:r>
            <a:r>
              <a:rPr lang="en-U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jstring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JNICAL</a:t>
            </a:r>
            <a:r>
              <a:rPr lang="en-US" sz="1100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L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Java_com_example_jnidemo_Hello_sayHello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JNIEnv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env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jobject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thiz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“Thank you!"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env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NewStringUTF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en-U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c_str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44AF99C-949C-A69A-7563-251641A2046F}"/>
              </a:ext>
            </a:extLst>
          </p:cNvPr>
          <p:cNvSpPr txBox="1"/>
          <p:nvPr/>
        </p:nvSpPr>
        <p:spPr>
          <a:xfrm>
            <a:off x="3477102" y="2119276"/>
            <a:ext cx="12426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</a:rPr>
              <a:t>w/ parameters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w/o parameters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6836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3DC25D-DB16-EB1B-0BB0-A6F45E3DD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Scenario - Callback 1</a:t>
            </a:r>
            <a:endParaRPr lang="en-US" dirty="0"/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656B62EA-2EAC-2B75-DDE8-2307EE2F7022}"/>
              </a:ext>
            </a:extLst>
          </p:cNvPr>
          <p:cNvSpPr txBox="1"/>
          <p:nvPr/>
        </p:nvSpPr>
        <p:spPr>
          <a:xfrm>
            <a:off x="2291009" y="1039842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java</a:t>
            </a:r>
            <a:endParaRPr lang="en-CA" dirty="0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BAB9169B-31F1-789C-B0C8-34751E30E355}"/>
              </a:ext>
            </a:extLst>
          </p:cNvPr>
          <p:cNvSpPr txBox="1"/>
          <p:nvPr/>
        </p:nvSpPr>
        <p:spPr>
          <a:xfrm>
            <a:off x="2329481" y="2810558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JNI</a:t>
            </a:r>
            <a:endParaRPr lang="en-CA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1A5FD6CE-4926-09F3-581C-1C7DA3F59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385" y="1432658"/>
            <a:ext cx="3927107" cy="131932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45720" rIns="91440" bIns="0" numCol="1" anchor="ctr" anchorCtr="0" compatLnSpc="1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CA" altLang="en-US" sz="13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package </a:t>
            </a:r>
            <a:r>
              <a:rPr kumimoji="0" lang="en-CA" altLang="en-US" sz="13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com.example.jnidemo</a:t>
            </a:r>
            <a:r>
              <a:rPr kumimoji="0" lang="en-CA" altLang="en-US" sz="13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;</a:t>
            </a:r>
            <a:br>
              <a:rPr kumimoji="0" lang="en-CA" altLang="en-US" sz="13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</a:br>
            <a:br>
              <a:rPr kumimoji="0" lang="en-CA" altLang="en-US" sz="13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</a:br>
            <a:r>
              <a:rPr kumimoji="0" lang="en-CA" altLang="en-US" sz="13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public class </a:t>
            </a:r>
            <a:r>
              <a:rPr kumimoji="0" lang="en-CA" altLang="en-US" sz="13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Hello {</a:t>
            </a:r>
            <a:br>
              <a:rPr kumimoji="0" lang="en-CA" altLang="en-US" sz="13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</a:br>
            <a:r>
              <a:rPr kumimoji="0" lang="en-CA" altLang="en-US" sz="13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    </a:t>
            </a:r>
            <a:r>
              <a:rPr kumimoji="0" lang="en-CA" altLang="en-US" sz="13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public native String </a:t>
            </a:r>
            <a:r>
              <a:rPr lang="en-CA" altLang="en-US" sz="1300" dirty="0" err="1">
                <a:solidFill>
                  <a:srgbClr val="FFC66D"/>
                </a:solidFill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s</a:t>
            </a:r>
            <a:r>
              <a:rPr kumimoji="0" lang="en-CA" altLang="en-US" sz="1300" b="0" i="0" u="none" strike="noStrike" cap="none" normalizeH="0" baseline="0" dirty="0" err="1">
                <a:ln>
                  <a:noFill/>
                </a:ln>
                <a:solidFill>
                  <a:srgbClr val="FFC66D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ayHello</a:t>
            </a:r>
            <a:r>
              <a:rPr kumimoji="0" lang="en-CA" altLang="en-US" sz="13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()</a:t>
            </a:r>
            <a:r>
              <a:rPr kumimoji="0" lang="en-CA" altLang="en-US" sz="13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;</a:t>
            </a:r>
            <a:r>
              <a:rPr lang="en-CA" altLang="en-US" sz="1300" dirty="0">
                <a:solidFill>
                  <a:srgbClr val="CC7832"/>
                </a:solidFill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    public 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String 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FFC66D"/>
                </a:solidFill>
                <a:effectLst/>
                <a:latin typeface="Arial Unicode MS"/>
                <a:ea typeface="JetBrains Mono"/>
              </a:rPr>
              <a:t>getName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(){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return 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  <a:ea typeface="JetBrains Mono"/>
              </a:rPr>
              <a:t>"Alice"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;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}</a:t>
            </a:r>
            <a:r>
              <a:rPr lang="en-CA" altLang="en-US" sz="1300" dirty="0">
                <a:solidFill>
                  <a:srgbClr val="CC7832"/>
                </a:solidFill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   </a:t>
            </a:r>
            <a:br>
              <a:rPr kumimoji="0" lang="en-CA" altLang="en-US" sz="13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</a:br>
            <a:r>
              <a:rPr kumimoji="0" lang="en-CA" altLang="en-US" sz="13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}</a:t>
            </a:r>
            <a:r>
              <a:rPr kumimoji="0" lang="en-CA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CA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58692140-7035-ED63-1981-8BA6B1B09C25}"/>
              </a:ext>
            </a:extLst>
          </p:cNvPr>
          <p:cNvSpPr txBox="1"/>
          <p:nvPr/>
        </p:nvSpPr>
        <p:spPr>
          <a:xfrm>
            <a:off x="6784900" y="998518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d.ts</a:t>
            </a:r>
            <a:endParaRPr lang="en-CA" dirty="0"/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D5AA591A-C0DA-D6D4-9B04-5807AD09272D}"/>
              </a:ext>
            </a:extLst>
          </p:cNvPr>
          <p:cNvSpPr txBox="1"/>
          <p:nvPr/>
        </p:nvSpPr>
        <p:spPr>
          <a:xfrm>
            <a:off x="7634286" y="2672988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aki</a:t>
            </a:r>
            <a:endParaRPr lang="en-CA" dirty="0"/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D149502F-1561-D872-E9F8-284A7746CDC8}"/>
              </a:ext>
            </a:extLst>
          </p:cNvPr>
          <p:cNvSpPr/>
          <p:nvPr/>
        </p:nvSpPr>
        <p:spPr bwMode="auto">
          <a:xfrm>
            <a:off x="490659" y="993788"/>
            <a:ext cx="4208559" cy="467283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9200" tIns="39600" rIns="79200" bIns="39600" numCol="1" rtlCol="0" anchor="t" anchorCtr="0" compatLnSpc="1">
            <a:noAutofit/>
          </a:bodyPr>
          <a:lstStyle/>
          <a:p>
            <a:pPr marL="0" marR="0" indent="0" algn="l" defTabSz="8020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CA" sz="1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6" name="Rectangle 14">
            <a:extLst>
              <a:ext uri="{FF2B5EF4-FFF2-40B4-BE49-F238E27FC236}">
                <a16:creationId xmlns:a16="http://schemas.microsoft.com/office/drawing/2014/main" id="{A1AF32F0-179B-8210-2234-6C16C4573DB0}"/>
              </a:ext>
            </a:extLst>
          </p:cNvPr>
          <p:cNvSpPr/>
          <p:nvPr/>
        </p:nvSpPr>
        <p:spPr bwMode="auto">
          <a:xfrm>
            <a:off x="5641025" y="993788"/>
            <a:ext cx="6149922" cy="467282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9200" tIns="39600" rIns="79200" bIns="39600" numCol="1" rtlCol="0" anchor="t" anchorCtr="0" compatLnSpc="1">
            <a:noAutofit/>
          </a:bodyPr>
          <a:lstStyle/>
          <a:p>
            <a:pPr marL="0" marR="0" indent="0" algn="l" defTabSz="8020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CA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7" name="Right Arrow 15">
            <a:extLst>
              <a:ext uri="{FF2B5EF4-FFF2-40B4-BE49-F238E27FC236}">
                <a16:creationId xmlns:a16="http://schemas.microsoft.com/office/drawing/2014/main" id="{D274732E-143C-CDD8-28F5-BEF733B6651A}"/>
              </a:ext>
            </a:extLst>
          </p:cNvPr>
          <p:cNvSpPr/>
          <p:nvPr/>
        </p:nvSpPr>
        <p:spPr bwMode="auto">
          <a:xfrm>
            <a:off x="4970712" y="3126628"/>
            <a:ext cx="575453" cy="523550"/>
          </a:xfrm>
          <a:prstGeom prst="right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9200" tIns="39600" rIns="79200" bIns="39600" numCol="1" rtlCol="0" anchor="t" anchorCtr="0" compatLnSpc="1">
            <a:noAutofit/>
          </a:bodyPr>
          <a:lstStyle/>
          <a:p>
            <a:pPr marL="0" marR="0" indent="0" algn="l" defTabSz="8020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CA" sz="1400" b="0" i="0" u="none" strike="noStrike" cap="none" normalizeH="0" baseline="0">
              <a:ln>
                <a:noFill/>
              </a:ln>
              <a:noFill/>
              <a:effectLst/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5" name="Rectangle 1">
            <a:extLst>
              <a:ext uri="{FF2B5EF4-FFF2-40B4-BE49-F238E27FC236}">
                <a16:creationId xmlns:a16="http://schemas.microsoft.com/office/drawing/2014/main" id="{CEB71435-8A16-D40B-1476-7F2A2323F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6618" y="2995223"/>
            <a:ext cx="5954553" cy="2625341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std::string </a:t>
            </a:r>
            <a:r>
              <a:rPr lang="en-US" altLang="en-US" sz="1200" dirty="0">
                <a:solidFill>
                  <a:srgbClr val="FFC66D"/>
                </a:solidFill>
                <a:latin typeface="Arial Unicode MS"/>
                <a:ea typeface="JetBrains Mono"/>
              </a:rPr>
              <a:t>sayHello</a:t>
            </a: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() {</a:t>
            </a:r>
            <a:b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</a:b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    </a:t>
            </a:r>
            <a:r>
              <a:rPr lang="en-US" altLang="en-US" sz="1200" dirty="0">
                <a:solidFill>
                  <a:srgbClr val="CC7832"/>
                </a:solidFill>
                <a:latin typeface="Arial Unicode MS"/>
                <a:ea typeface="JetBrains Mono"/>
              </a:rPr>
              <a:t>auto </a:t>
            </a: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method = </a:t>
            </a:r>
            <a:r>
              <a:rPr lang="en-US" altLang="en-US" sz="1200" dirty="0" err="1">
                <a:solidFill>
                  <a:srgbClr val="A9B7C6"/>
                </a:solidFill>
                <a:latin typeface="Arial Unicode MS"/>
                <a:ea typeface="JetBrains Mono"/>
              </a:rPr>
              <a:t>aki</a:t>
            </a: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::</a:t>
            </a:r>
            <a:r>
              <a:rPr lang="en-US" altLang="en-US" sz="1200" dirty="0" err="1">
                <a:solidFill>
                  <a:srgbClr val="A9B7C6"/>
                </a:solidFill>
                <a:latin typeface="Arial Unicode MS"/>
                <a:ea typeface="JetBrains Mono"/>
              </a:rPr>
              <a:t>JSBind</a:t>
            </a: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::</a:t>
            </a:r>
            <a:r>
              <a:rPr lang="en-US" altLang="en-US" sz="1200" dirty="0" err="1">
                <a:solidFill>
                  <a:srgbClr val="FFC66D"/>
                </a:solidFill>
                <a:latin typeface="Arial Unicode MS"/>
                <a:ea typeface="JetBrains Mono"/>
              </a:rPr>
              <a:t>GetJSFunction</a:t>
            </a: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(</a:t>
            </a:r>
            <a:r>
              <a:rPr lang="en-US" altLang="en-US" sz="1200" dirty="0">
                <a:solidFill>
                  <a:srgbClr val="6A8759"/>
                </a:solidFill>
                <a:latin typeface="Arial Unicode MS"/>
                <a:ea typeface="JetBrains Mono"/>
              </a:rPr>
              <a:t>"getName"</a:t>
            </a: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)</a:t>
            </a:r>
            <a:r>
              <a:rPr lang="en-US" altLang="en-US" sz="1200" dirty="0">
                <a:solidFill>
                  <a:srgbClr val="CC7832"/>
                </a:solidFill>
                <a:latin typeface="Arial Unicode MS"/>
                <a:ea typeface="JetBrains Mono"/>
              </a:rPr>
              <a:t>;</a:t>
            </a:r>
            <a:br>
              <a:rPr lang="en-US" altLang="en-US" sz="1200" dirty="0">
                <a:solidFill>
                  <a:srgbClr val="CC7832"/>
                </a:solidFill>
                <a:latin typeface="Arial Unicode MS"/>
                <a:ea typeface="JetBrains Mono"/>
              </a:rPr>
            </a:br>
            <a:r>
              <a:rPr lang="en-US" altLang="en-US" sz="1200" dirty="0">
                <a:solidFill>
                  <a:srgbClr val="CC7832"/>
                </a:solidFill>
                <a:latin typeface="Arial Unicode MS"/>
                <a:ea typeface="JetBrains Mono"/>
              </a:rPr>
              <a:t>    auto </a:t>
            </a: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str = method-&gt;</a:t>
            </a:r>
            <a:r>
              <a:rPr lang="en-US" altLang="en-US" sz="1200" dirty="0">
                <a:solidFill>
                  <a:srgbClr val="FFC66D"/>
                </a:solidFill>
                <a:latin typeface="Arial Unicode MS"/>
                <a:ea typeface="JetBrains Mono"/>
              </a:rPr>
              <a:t>Invoke</a:t>
            </a: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&lt;</a:t>
            </a:r>
            <a:r>
              <a:rPr lang="en-US" altLang="en-US" sz="1200" dirty="0">
                <a:solidFill>
                  <a:srgbClr val="CC7832"/>
                </a:solidFill>
                <a:latin typeface="Arial Unicode MS"/>
                <a:ea typeface="JetBrains Mono"/>
              </a:rPr>
              <a:t>char </a:t>
            </a: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*&gt;()</a:t>
            </a:r>
            <a:r>
              <a:rPr lang="en-US" altLang="en-US" sz="1200" dirty="0">
                <a:solidFill>
                  <a:srgbClr val="CC7832"/>
                </a:solidFill>
                <a:latin typeface="Arial Unicode MS"/>
                <a:ea typeface="JetBrains Mono"/>
              </a:rPr>
              <a:t>; return </a:t>
            </a: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(std::string)</a:t>
            </a:r>
            <a:r>
              <a:rPr lang="en-US" altLang="en-US" sz="1200" dirty="0">
                <a:solidFill>
                  <a:srgbClr val="6A8759"/>
                </a:solidFill>
                <a:latin typeface="Arial Unicode MS"/>
                <a:ea typeface="JetBrains Mono"/>
              </a:rPr>
              <a:t>"Hi, "</a:t>
            </a: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+ str + </a:t>
            </a:r>
            <a:r>
              <a:rPr lang="en-US" altLang="en-US" sz="1200" dirty="0">
                <a:solidFill>
                  <a:srgbClr val="6A8759"/>
                </a:solidFill>
                <a:latin typeface="Arial Unicode MS"/>
                <a:ea typeface="JetBrains Mono"/>
              </a:rPr>
              <a:t>". This is Bob"</a:t>
            </a:r>
            <a:r>
              <a:rPr lang="en-US" altLang="en-US" sz="1200" dirty="0">
                <a:solidFill>
                  <a:srgbClr val="CC7832"/>
                </a:solidFill>
                <a:latin typeface="Arial Unicode MS"/>
                <a:ea typeface="JetBrains Mono"/>
              </a:rPr>
              <a:t>;</a:t>
            </a:r>
            <a:br>
              <a:rPr lang="en-US" altLang="en-US" sz="1200" dirty="0">
                <a:solidFill>
                  <a:srgbClr val="CC7832"/>
                </a:solidFill>
                <a:latin typeface="Arial Unicode MS"/>
                <a:ea typeface="JetBrains Mono"/>
              </a:rPr>
            </a:b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}</a:t>
            </a:r>
            <a:endParaRPr lang="en-US" altLang="en-US" sz="2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BB529"/>
                </a:solidFill>
                <a:effectLst/>
                <a:latin typeface="Arial Unicode MS"/>
                <a:ea typeface="JetBrains Mono"/>
              </a:rPr>
              <a:t>JSBIND_GLOBAL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BB529"/>
                </a:solidFill>
                <a:effectLst/>
                <a:latin typeface="Arial Unicode MS"/>
                <a:ea typeface="JetBrains Mono"/>
              </a:rPr>
              <a:t>JSBIND_FUNCTION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FFC66D"/>
                </a:solidFill>
                <a:effectLst/>
                <a:latin typeface="Arial Unicode MS"/>
                <a:ea typeface="JetBrains Mono"/>
              </a:rPr>
              <a:t>sayHello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BB529"/>
                </a:solidFill>
                <a:effectLst/>
                <a:latin typeface="Arial Unicode MS"/>
                <a:ea typeface="JetBrains Mono"/>
              </a:rPr>
              <a:t>JSBIND_ADDON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(entry)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Rectangle 1">
            <a:extLst>
              <a:ext uri="{FF2B5EF4-FFF2-40B4-BE49-F238E27FC236}">
                <a16:creationId xmlns:a16="http://schemas.microsoft.com/office/drawing/2014/main" id="{3A3AEEA5-8C84-F455-40C7-C2CDDFE283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6618" y="1400763"/>
            <a:ext cx="2595800" cy="1319321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export const </a:t>
            </a:r>
            <a:r>
              <a:rPr lang="en-US" altLang="en-US" sz="1200" dirty="0">
                <a:solidFill>
                  <a:schemeClr val="bg1"/>
                </a:solidFill>
                <a:latin typeface="Arial Unicode MS"/>
                <a:ea typeface="JetBrains Mono"/>
              </a:rPr>
              <a:t>s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ea typeface="JetBrains Mono"/>
              </a:rPr>
              <a:t>ayHello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DB7E9B"/>
                </a:solidFill>
                <a:effectLst/>
                <a:latin typeface="Arial Unicode MS"/>
                <a:ea typeface="JetBrains Mono"/>
              </a:rPr>
              <a:t>() 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=&gt; 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string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167390C-039F-2EFC-8B26-B4EFA581D00C}"/>
              </a:ext>
            </a:extLst>
          </p:cNvPr>
          <p:cNvSpPr txBox="1"/>
          <p:nvPr/>
        </p:nvSpPr>
        <p:spPr>
          <a:xfrm>
            <a:off x="626215" y="3126831"/>
            <a:ext cx="3937446" cy="249373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/>
          <a:p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extern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  <a:ea typeface="JetBrains Mono"/>
              </a:rPr>
              <a:t>"C"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908B25"/>
                </a:solidFill>
                <a:effectLst/>
                <a:latin typeface="Arial Unicode MS"/>
                <a:ea typeface="JetBrains Mono"/>
              </a:rPr>
              <a:t>JNIEXPORT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jstring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908B25"/>
                </a:solidFill>
                <a:effectLst/>
                <a:latin typeface="Arial Unicode MS"/>
                <a:ea typeface="JetBrains Mono"/>
              </a:rPr>
              <a:t>JNICALL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908B25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FFC66D"/>
                </a:solidFill>
                <a:effectLst/>
                <a:latin typeface="Arial Unicode MS"/>
                <a:ea typeface="JetBrains Mono"/>
              </a:rPr>
              <a:t>Java_com_example_jni</a:t>
            </a:r>
            <a:r>
              <a:rPr kumimoji="0" lang="en-US" altLang="zh-CN" sz="1100" b="0" i="0" u="none" strike="noStrike" cap="none" normalizeH="0" baseline="0" dirty="0" err="1">
                <a:ln>
                  <a:noFill/>
                </a:ln>
                <a:solidFill>
                  <a:srgbClr val="FFC66D"/>
                </a:solidFill>
                <a:effectLst/>
                <a:latin typeface="Arial Unicode MS"/>
                <a:ea typeface="JetBrains Mono"/>
              </a:rPr>
              <a:t>demo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FFC66D"/>
                </a:solidFill>
                <a:effectLst/>
                <a:latin typeface="Arial Unicode MS"/>
                <a:ea typeface="JetBrains Mono"/>
              </a:rPr>
              <a:t>_Hello_sayHello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JNIEnv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*env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jobject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thiz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jclass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jc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 = env-&gt;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GetObjectClass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thiz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jmethodID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jmid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 = env-&gt;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GetMethodID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jc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,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  <a:ea typeface="JetBrains Mono"/>
              </a:rPr>
              <a:t>"getName"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,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  <a:ea typeface="JetBrains Mono"/>
              </a:rPr>
              <a:t>"()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  <a:ea typeface="JetBrains Mono"/>
              </a:rPr>
              <a:t>Ljava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  <a:ea typeface="JetBrains Mono"/>
              </a:rPr>
              <a:t>/lang/String;"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jstring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jstr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 = 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jstring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)env-&gt;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CallObjectMethod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thiz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,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jmid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5B6E3"/>
                </a:solidFill>
                <a:effectLst/>
                <a:latin typeface="Arial Unicode MS"/>
                <a:ea typeface="JetBrains Mono"/>
              </a:rPr>
              <a:t>std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::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string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nstr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= env-&gt;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GetStringUTFChars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jstr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nullptr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5B6E3"/>
                </a:solidFill>
                <a:effectLst/>
                <a:latin typeface="Arial Unicode MS"/>
                <a:ea typeface="JetBrains Mono"/>
              </a:rPr>
              <a:t>std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::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string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hello = 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5B6E3"/>
                </a:solidFill>
                <a:effectLst/>
                <a:latin typeface="Arial Unicode MS"/>
                <a:ea typeface="JetBrains Mono"/>
              </a:rPr>
              <a:t>std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::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string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  <a:ea typeface="JetBrains Mono"/>
              </a:rPr>
              <a:t>"Hi, "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5F8C8A"/>
                </a:solidFill>
                <a:effectLst/>
                <a:latin typeface="Arial Unicode MS"/>
                <a:ea typeface="JetBrains Mono"/>
              </a:rPr>
              <a:t>+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nstr.c_str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5F8C8A"/>
                </a:solidFill>
                <a:effectLst/>
                <a:latin typeface="Arial Unicode MS"/>
                <a:ea typeface="JetBrains Mono"/>
              </a:rPr>
              <a:t>+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5B6E3"/>
                </a:solidFill>
                <a:effectLst/>
                <a:latin typeface="Arial Unicode MS"/>
                <a:ea typeface="JetBrains Mono"/>
              </a:rPr>
              <a:t>std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::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string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  <a:ea typeface="JetBrains Mono"/>
              </a:rPr>
              <a:t>". This is Bob"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    return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env-&gt;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NewStringUTF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hello.c_str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())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}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D0814410-117E-A04D-80EB-6B861E934E23}"/>
              </a:ext>
            </a:extLst>
          </p:cNvPr>
          <p:cNvSpPr txBox="1"/>
          <p:nvPr/>
        </p:nvSpPr>
        <p:spPr>
          <a:xfrm>
            <a:off x="9701417" y="993789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ets</a:t>
            </a:r>
            <a:endParaRPr lang="en-CA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00B22D3A-0C6C-0E02-18E4-6400EA0A1E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8011" y="1423333"/>
            <a:ext cx="3212604" cy="1296751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function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65CCE1"/>
                </a:solidFill>
                <a:effectLst/>
                <a:latin typeface="Arial Unicode MS"/>
                <a:ea typeface="JetBrains Mono"/>
              </a:rPr>
              <a:t>getName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DB7E9B"/>
                </a:solidFill>
                <a:effectLst/>
                <a:latin typeface="Arial Unicode MS"/>
                <a:ea typeface="JetBrains Mono"/>
              </a:rPr>
              <a:t>()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string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FAA23D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FAA23D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FAA23D"/>
                </a:solidFill>
                <a:effectLst/>
                <a:latin typeface="Arial Unicode MS"/>
                <a:ea typeface="JetBrains Mono"/>
              </a:rPr>
              <a:t>  </a:t>
            </a: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return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AA7DFC"/>
                </a:solidFill>
                <a:effectLst/>
                <a:latin typeface="Arial Unicode MS"/>
                <a:ea typeface="JetBrains Mono"/>
              </a:rPr>
              <a:t>"Alice"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FAA23D"/>
                </a:solidFill>
                <a:effectLst/>
                <a:latin typeface="Arial Unicode MS"/>
                <a:ea typeface="JetBrains Mono"/>
              </a:rPr>
              <a:t>}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FAA23D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Arial Unicode MS"/>
                <a:ea typeface="JetBrains Mono"/>
              </a:rPr>
              <a:t>// @ts-ignore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  <a:ea typeface="JetBrains Mono"/>
              </a:rPr>
              <a:t>testAki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  <a:ea typeface="JetBrains Mono"/>
              </a:rPr>
              <a:t>JSBind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65CCE1"/>
                </a:solidFill>
                <a:effectLst/>
                <a:latin typeface="Arial Unicode MS"/>
                <a:ea typeface="JetBrains Mono"/>
              </a:rPr>
              <a:t>bindFunction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DB7E9B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AA7DFC"/>
                </a:solidFill>
                <a:effectLst/>
                <a:latin typeface="Arial Unicode MS"/>
                <a:ea typeface="JetBrains Mono"/>
              </a:rPr>
              <a:t>"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AA7DFC"/>
                </a:solidFill>
                <a:effectLst/>
                <a:latin typeface="Arial Unicode MS"/>
                <a:ea typeface="JetBrains Mono"/>
              </a:rPr>
              <a:t>getName"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,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  <a:ea typeface="JetBrains Mono"/>
              </a:rPr>
              <a:t>getName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DB7E9B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;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8" name="连接符: 曲线 17">
            <a:extLst>
              <a:ext uri="{FF2B5EF4-FFF2-40B4-BE49-F238E27FC236}">
                <a16:creationId xmlns:a16="http://schemas.microsoft.com/office/drawing/2014/main" id="{36580F64-8BBE-3929-61F3-59A6576CC39E}"/>
              </a:ext>
            </a:extLst>
          </p:cNvPr>
          <p:cNvCxnSpPr>
            <a:endCxn id="26" idx="1"/>
          </p:cNvCxnSpPr>
          <p:nvPr/>
        </p:nvCxnSpPr>
        <p:spPr bwMode="auto">
          <a:xfrm flipV="1">
            <a:off x="3412565" y="2060424"/>
            <a:ext cx="2284053" cy="173036"/>
          </a:xfrm>
          <a:prstGeom prst="curvedConnector3">
            <a:avLst/>
          </a:prstGeom>
          <a:noFill/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20" name="连接符: 曲线 19">
            <a:extLst>
              <a:ext uri="{FF2B5EF4-FFF2-40B4-BE49-F238E27FC236}">
                <a16:creationId xmlns:a16="http://schemas.microsoft.com/office/drawing/2014/main" id="{8C807078-3412-367B-E6F2-B55A0535C543}"/>
              </a:ext>
            </a:extLst>
          </p:cNvPr>
          <p:cNvCxnSpPr/>
          <p:nvPr/>
        </p:nvCxnSpPr>
        <p:spPr bwMode="auto">
          <a:xfrm flipV="1">
            <a:off x="4046071" y="1737413"/>
            <a:ext cx="4362823" cy="764988"/>
          </a:xfrm>
          <a:prstGeom prst="curvedConnector3">
            <a:avLst/>
          </a:prstGeom>
          <a:noFill/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7FA18B7A-C3AF-D5C6-8093-22AC19BCC4E7}"/>
              </a:ext>
            </a:extLst>
          </p:cNvPr>
          <p:cNvSpPr/>
          <p:nvPr/>
        </p:nvSpPr>
        <p:spPr bwMode="auto">
          <a:xfrm>
            <a:off x="7904344" y="2317129"/>
            <a:ext cx="3528643" cy="1418473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79200" tIns="39600" rIns="79200" bIns="39600" numCol="1" rtlCol="0" anchor="t" anchorCtr="0" compatLnSpc="1">
            <a:noAutofit/>
          </a:bodyPr>
          <a:lstStyle/>
          <a:p>
            <a:pPr marL="0" marR="0" indent="0" algn="l" defTabSz="8020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TextBox 11">
            <a:extLst>
              <a:ext uri="{FF2B5EF4-FFF2-40B4-BE49-F238E27FC236}">
                <a16:creationId xmlns:a16="http://schemas.microsoft.com/office/drawing/2014/main" id="{DA39B3BE-B1A6-6129-F7D5-1C02FFE4FF54}"/>
              </a:ext>
            </a:extLst>
          </p:cNvPr>
          <p:cNvSpPr txBox="1"/>
          <p:nvPr/>
        </p:nvSpPr>
        <p:spPr>
          <a:xfrm>
            <a:off x="9382901" y="3045751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reflection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1451819-E44F-F14A-D58E-8C83D4EE7DA1}"/>
              </a:ext>
            </a:extLst>
          </p:cNvPr>
          <p:cNvSpPr txBox="1"/>
          <p:nvPr/>
        </p:nvSpPr>
        <p:spPr>
          <a:xfrm>
            <a:off x="2338559" y="5709762"/>
            <a:ext cx="81651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当前函数（同一个线程）里面回调，直接用</a:t>
            </a:r>
            <a:r>
              <a:rPr lang="en-US" sz="1400" i="0" dirty="0" err="1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findClass</a:t>
            </a:r>
            <a:r>
              <a:rPr lang="zh-CN" altLang="en-US" sz="140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或者</a:t>
            </a:r>
            <a:r>
              <a:rPr lang="en-US" sz="1400" i="0" dirty="0" err="1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GetObjectClass</a:t>
            </a:r>
            <a:endParaRPr lang="en-US" sz="1400" i="0" dirty="0">
              <a:effectLst/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latin typeface="SimSun" panose="02010600030101010101" pitchFamily="2" charset="-122"/>
                <a:ea typeface="SimSun" panose="02010600030101010101" pitchFamily="2" charset="-122"/>
              </a:rPr>
              <a:t>ets,aki</a:t>
            </a:r>
            <a:r>
              <a:rPr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协同完成反射功能</a:t>
            </a:r>
            <a:endParaRPr lang="en-US" sz="14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7481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3DC25D-DB16-EB1B-0BB0-A6F45E3DD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Scenario - Callback2</a:t>
            </a:r>
            <a:endParaRPr lang="en-US" dirty="0"/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656B62EA-2EAC-2B75-DDE8-2307EE2F7022}"/>
              </a:ext>
            </a:extLst>
          </p:cNvPr>
          <p:cNvSpPr txBox="1"/>
          <p:nvPr/>
        </p:nvSpPr>
        <p:spPr>
          <a:xfrm>
            <a:off x="496374" y="707045"/>
            <a:ext cx="5597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java</a:t>
            </a:r>
            <a:endParaRPr lang="en-CA" sz="1600" dirty="0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BAB9169B-31F1-789C-B0C8-34751E30E355}"/>
              </a:ext>
            </a:extLst>
          </p:cNvPr>
          <p:cNvSpPr txBox="1"/>
          <p:nvPr/>
        </p:nvSpPr>
        <p:spPr>
          <a:xfrm>
            <a:off x="491204" y="2519636"/>
            <a:ext cx="4924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JNI</a:t>
            </a:r>
            <a:endParaRPr lang="en-CA" sz="1600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1A5FD6CE-4926-09F3-581C-1C7DA3F59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11" y="1020290"/>
            <a:ext cx="6228950" cy="145734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45720" rIns="91440" bIns="0" numCol="1" anchor="ctr" anchorCtr="0" compatLnSpc="1">
            <a:no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CA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package </a:t>
            </a:r>
            <a:r>
              <a:rPr kumimoji="0" lang="en-CA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com.example.jnidemo</a:t>
            </a:r>
            <a:r>
              <a:rPr kumimoji="0" lang="en-CA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;</a:t>
            </a:r>
            <a:br>
              <a:rPr kumimoji="0" lang="en-CA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</a:br>
            <a:r>
              <a:rPr kumimoji="0" lang="en-CA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public class </a:t>
            </a:r>
            <a:r>
              <a:rPr kumimoji="0" lang="en-CA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Hello 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CC7832"/>
                </a:solidFill>
                <a:latin typeface="Arial Unicode MS"/>
                <a:ea typeface="JetBrains Mono"/>
              </a:rPr>
              <a:t>public void </a:t>
            </a:r>
            <a:r>
              <a:rPr lang="en-US" altLang="en-US" sz="1200" dirty="0" err="1">
                <a:solidFill>
                  <a:srgbClr val="FFC66D"/>
                </a:solidFill>
                <a:latin typeface="Arial Unicode MS"/>
                <a:ea typeface="JetBrains Mono"/>
              </a:rPr>
              <a:t>onSayHelloBack</a:t>
            </a: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(String response){</a:t>
            </a:r>
            <a:b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</a:b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    </a:t>
            </a:r>
            <a:r>
              <a:rPr lang="en-US" altLang="en-US" sz="1200" dirty="0" err="1">
                <a:solidFill>
                  <a:srgbClr val="A9B7C6"/>
                </a:solidFill>
                <a:latin typeface="Arial Unicode MS"/>
                <a:ea typeface="JetBrains Mono"/>
              </a:rPr>
              <a:t>Log.</a:t>
            </a:r>
            <a:r>
              <a:rPr lang="en-US" altLang="en-US" sz="1200" i="1" dirty="0" err="1">
                <a:solidFill>
                  <a:srgbClr val="A9B7C6"/>
                </a:solidFill>
                <a:latin typeface="Arial Unicode MS"/>
                <a:ea typeface="JetBrains Mono"/>
              </a:rPr>
              <a:t>i</a:t>
            </a: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(</a:t>
            </a:r>
            <a:r>
              <a:rPr lang="en-US" altLang="en-US" sz="1200" dirty="0">
                <a:solidFill>
                  <a:srgbClr val="6A8759"/>
                </a:solidFill>
                <a:latin typeface="Arial Unicode MS"/>
                <a:ea typeface="JetBrains Mono"/>
              </a:rPr>
              <a:t>"JNI2AKI-JAVA"</a:t>
            </a:r>
            <a:r>
              <a:rPr lang="en-US" altLang="en-US" sz="1200" dirty="0">
                <a:solidFill>
                  <a:srgbClr val="CC7832"/>
                </a:solidFill>
                <a:latin typeface="Arial Unicode MS"/>
                <a:ea typeface="JetBrains Mono"/>
              </a:rPr>
              <a:t>,</a:t>
            </a: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response)</a:t>
            </a:r>
            <a:r>
              <a:rPr lang="en-US" altLang="en-US" sz="1200" dirty="0">
                <a:solidFill>
                  <a:srgbClr val="CC7832"/>
                </a:solidFill>
                <a:latin typeface="Arial Unicode MS"/>
                <a:ea typeface="JetBrains Mono"/>
              </a:rPr>
              <a:t>;</a:t>
            </a:r>
            <a:br>
              <a:rPr lang="en-US" altLang="en-US" sz="1200" dirty="0">
                <a:solidFill>
                  <a:srgbClr val="CC7832"/>
                </a:solidFill>
                <a:latin typeface="Arial Unicode MS"/>
                <a:ea typeface="JetBrains Mono"/>
              </a:rPr>
            </a:b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}</a:t>
            </a:r>
            <a:b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</a:br>
            <a:r>
              <a:rPr lang="en-US" altLang="en-US" sz="1200" dirty="0">
                <a:solidFill>
                  <a:srgbClr val="CC7832"/>
                </a:solidFill>
                <a:latin typeface="Arial Unicode MS"/>
                <a:ea typeface="JetBrains Mono"/>
              </a:rPr>
              <a:t>public native void </a:t>
            </a:r>
            <a:r>
              <a:rPr lang="en-US" altLang="en-US" sz="1200" dirty="0" err="1">
                <a:solidFill>
                  <a:srgbClr val="FFC66D"/>
                </a:solidFill>
                <a:latin typeface="Arial Unicode MS"/>
                <a:ea typeface="JetBrains Mono"/>
              </a:rPr>
              <a:t>sayHello</a:t>
            </a: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()</a:t>
            </a:r>
            <a:r>
              <a:rPr lang="en-US" altLang="en-US" sz="1200" dirty="0">
                <a:solidFill>
                  <a:srgbClr val="CC7832"/>
                </a:solidFill>
                <a:latin typeface="Arial Unicode MS"/>
                <a:ea typeface="JetBrains Mono"/>
              </a:rPr>
              <a:t>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}</a:t>
            </a:r>
            <a:r>
              <a:rPr lang="en-CA" altLang="en-US" sz="1200" dirty="0">
                <a:solidFill>
                  <a:srgbClr val="CC7832"/>
                </a:solidFill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  </a:t>
            </a:r>
            <a:endParaRPr kumimoji="0" lang="en-CA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D5AA591A-C0DA-D6D4-9B04-5807AD09272D}"/>
              </a:ext>
            </a:extLst>
          </p:cNvPr>
          <p:cNvSpPr txBox="1"/>
          <p:nvPr/>
        </p:nvSpPr>
        <p:spPr>
          <a:xfrm>
            <a:off x="9818707" y="2958885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aki</a:t>
            </a:r>
            <a:endParaRPr lang="en-CA" dirty="0"/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D149502F-1561-D872-E9F8-284A7746CDC8}"/>
              </a:ext>
            </a:extLst>
          </p:cNvPr>
          <p:cNvSpPr/>
          <p:nvPr/>
        </p:nvSpPr>
        <p:spPr bwMode="auto">
          <a:xfrm>
            <a:off x="478385" y="779927"/>
            <a:ext cx="6802028" cy="542162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9200" tIns="39600" rIns="79200" bIns="39600" numCol="1" rtlCol="0" anchor="t" anchorCtr="0" compatLnSpc="1">
            <a:noAutofit/>
          </a:bodyPr>
          <a:lstStyle/>
          <a:p>
            <a:pPr marL="0" marR="0" indent="0" algn="l" defTabSz="8020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CA" sz="1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6" name="Rectangle 14">
            <a:extLst>
              <a:ext uri="{FF2B5EF4-FFF2-40B4-BE49-F238E27FC236}">
                <a16:creationId xmlns:a16="http://schemas.microsoft.com/office/drawing/2014/main" id="{A1AF32F0-179B-8210-2234-6C16C4573DB0}"/>
              </a:ext>
            </a:extLst>
          </p:cNvPr>
          <p:cNvSpPr/>
          <p:nvPr/>
        </p:nvSpPr>
        <p:spPr bwMode="auto">
          <a:xfrm>
            <a:off x="8806069" y="829327"/>
            <a:ext cx="2504895" cy="536359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9200" tIns="39600" rIns="79200" bIns="39600" numCol="1" rtlCol="0" anchor="t" anchorCtr="0" compatLnSpc="1">
            <a:noAutofit/>
          </a:bodyPr>
          <a:lstStyle/>
          <a:p>
            <a:pPr marL="0" marR="0" indent="0" algn="l" defTabSz="8020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CA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7" name="Right Arrow 15">
            <a:extLst>
              <a:ext uri="{FF2B5EF4-FFF2-40B4-BE49-F238E27FC236}">
                <a16:creationId xmlns:a16="http://schemas.microsoft.com/office/drawing/2014/main" id="{D274732E-143C-CDD8-28F5-BEF733B6651A}"/>
              </a:ext>
            </a:extLst>
          </p:cNvPr>
          <p:cNvSpPr/>
          <p:nvPr/>
        </p:nvSpPr>
        <p:spPr bwMode="auto">
          <a:xfrm>
            <a:off x="7474226" y="3017042"/>
            <a:ext cx="1072093" cy="523550"/>
          </a:xfrm>
          <a:prstGeom prst="right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9200" tIns="39600" rIns="79200" bIns="39600" numCol="1" rtlCol="0" anchor="t" anchorCtr="0" compatLnSpc="1">
            <a:noAutofit/>
          </a:bodyPr>
          <a:lstStyle/>
          <a:p>
            <a:pPr marL="0" marR="0" indent="0" algn="l" defTabSz="8020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CA" sz="1400" b="0" i="0" u="none" strike="noStrike" cap="none" normalizeH="0" baseline="0">
              <a:ln>
                <a:noFill/>
              </a:ln>
              <a:noFill/>
              <a:effectLst/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167390C-039F-2EFC-8B26-B4EFA581D00C}"/>
              </a:ext>
            </a:extLst>
          </p:cNvPr>
          <p:cNvSpPr txBox="1"/>
          <p:nvPr/>
        </p:nvSpPr>
        <p:spPr>
          <a:xfrm>
            <a:off x="607530" y="2805274"/>
            <a:ext cx="6240531" cy="339627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100" dirty="0" err="1">
                <a:solidFill>
                  <a:srgbClr val="B9BCD1"/>
                </a:solidFill>
                <a:latin typeface="Arial Unicode MS"/>
                <a:ea typeface="JetBrains Mono"/>
              </a:rPr>
              <a:t>JavaVM</a:t>
            </a:r>
            <a:r>
              <a:rPr lang="en-US" altLang="en-US" sz="1100" dirty="0">
                <a:solidFill>
                  <a:srgbClr val="B9BCD1"/>
                </a:solidFill>
                <a:latin typeface="Arial Unicode MS"/>
                <a:ea typeface="JetBrains Mono"/>
              </a:rPr>
              <a:t> 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*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g_VM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;</a:t>
            </a:r>
            <a:b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</a:br>
            <a:r>
              <a:rPr lang="en-US" altLang="en-US" sz="1100" dirty="0" err="1">
                <a:solidFill>
                  <a:srgbClr val="B9BCD1"/>
                </a:solidFill>
                <a:latin typeface="Arial Unicode MS"/>
                <a:ea typeface="JetBrains Mono"/>
              </a:rPr>
              <a:t>jobject</a:t>
            </a:r>
            <a:r>
              <a:rPr lang="en-US" altLang="en-US" sz="1100" dirty="0">
                <a:solidFill>
                  <a:srgbClr val="B9BCD1"/>
                </a:solidFill>
                <a:latin typeface="Arial Unicode MS"/>
                <a:ea typeface="JetBrains Mono"/>
              </a:rPr>
              <a:t> 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g_obj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;</a:t>
            </a:r>
            <a:b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</a:b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void  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* </a:t>
            </a:r>
            <a:r>
              <a:rPr lang="en-US" altLang="en-US" sz="1100" dirty="0" err="1">
                <a:solidFill>
                  <a:srgbClr val="FFC66D"/>
                </a:solidFill>
                <a:latin typeface="Arial Unicode MS"/>
                <a:ea typeface="JetBrains Mono"/>
              </a:rPr>
              <a:t>sayHelloThread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(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void 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*) {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    </a:t>
            </a:r>
            <a:r>
              <a:rPr lang="en-US" altLang="en-US" sz="1100" dirty="0" err="1">
                <a:solidFill>
                  <a:srgbClr val="B9BCD1"/>
                </a:solidFill>
                <a:latin typeface="Arial Unicode MS"/>
                <a:ea typeface="JetBrains Mono"/>
              </a:rPr>
              <a:t>JNIEnv</a:t>
            </a:r>
            <a:r>
              <a:rPr lang="en-US" altLang="en-US" sz="1100" dirty="0">
                <a:solidFill>
                  <a:srgbClr val="B9BCD1"/>
                </a:solidFill>
                <a:latin typeface="Arial Unicode MS"/>
                <a:ea typeface="JetBrains Mono"/>
              </a:rPr>
              <a:t> 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*env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;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    int 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getEnvStat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 = 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g_VM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-&gt;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GetEnv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( (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void 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**) &amp;env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,</a:t>
            </a:r>
            <a:r>
              <a:rPr lang="en-US" altLang="en-US" sz="1100" dirty="0">
                <a:solidFill>
                  <a:srgbClr val="908B25"/>
                </a:solidFill>
                <a:latin typeface="Arial Unicode MS"/>
                <a:ea typeface="JetBrains Mono"/>
              </a:rPr>
              <a:t>JNI_VERSION_1_6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)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g_VM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-&gt;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AttachCurrentThread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(&amp;env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908B25"/>
                </a:solidFill>
                <a:effectLst/>
                <a:latin typeface="Arial Unicode MS"/>
                <a:ea typeface="JetBrains Mono"/>
              </a:rPr>
              <a:t>NULL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);</a:t>
            </a:r>
            <a:b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</a:b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    </a:t>
            </a:r>
            <a:r>
              <a:rPr lang="en-US" altLang="en-US" sz="1100" dirty="0" err="1">
                <a:solidFill>
                  <a:srgbClr val="B9BCD1"/>
                </a:solidFill>
                <a:latin typeface="Arial Unicode MS"/>
                <a:ea typeface="JetBrains Mono"/>
              </a:rPr>
              <a:t>jclass</a:t>
            </a:r>
            <a:r>
              <a:rPr lang="en-US" altLang="en-US" sz="1100" dirty="0">
                <a:solidFill>
                  <a:srgbClr val="B9BCD1"/>
                </a:solidFill>
                <a:latin typeface="Arial Unicode MS"/>
                <a:ea typeface="JetBrains Mono"/>
              </a:rPr>
              <a:t> 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jc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 = env-&gt;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GetObjectClass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(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g_obj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)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;</a:t>
            </a:r>
            <a:b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</a:b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    </a:t>
            </a:r>
            <a:r>
              <a:rPr lang="en-US" altLang="en-US" sz="1100" dirty="0" err="1">
                <a:solidFill>
                  <a:srgbClr val="B9BCD1"/>
                </a:solidFill>
                <a:latin typeface="Arial Unicode MS"/>
                <a:ea typeface="JetBrains Mono"/>
              </a:rPr>
              <a:t>jmethodID</a:t>
            </a:r>
            <a:r>
              <a:rPr lang="en-US" altLang="en-US" sz="1100" dirty="0">
                <a:solidFill>
                  <a:srgbClr val="B9BCD1"/>
                </a:solidFill>
                <a:latin typeface="Arial Unicode MS"/>
                <a:ea typeface="JetBrains Mono"/>
              </a:rPr>
              <a:t> 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jmid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 = env-&gt;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GetMethodID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(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jc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, </a:t>
            </a:r>
            <a:r>
              <a:rPr lang="en-US" altLang="en-US" sz="1100" dirty="0">
                <a:solidFill>
                  <a:srgbClr val="6A8759"/>
                </a:solidFill>
                <a:latin typeface="Arial Unicode MS"/>
                <a:ea typeface="JetBrains Mono"/>
              </a:rPr>
              <a:t>"</a:t>
            </a:r>
            <a:r>
              <a:rPr lang="en-US" altLang="en-US" sz="1100" dirty="0" err="1">
                <a:solidFill>
                  <a:srgbClr val="6A8759"/>
                </a:solidFill>
                <a:latin typeface="Arial Unicode MS"/>
                <a:ea typeface="JetBrains Mono"/>
              </a:rPr>
              <a:t>onSayHelloBack</a:t>
            </a:r>
            <a:r>
              <a:rPr lang="en-US" altLang="en-US" sz="1100" dirty="0">
                <a:solidFill>
                  <a:srgbClr val="6A8759"/>
                </a:solidFill>
                <a:latin typeface="Arial Unicode MS"/>
                <a:ea typeface="JetBrains Mono"/>
              </a:rPr>
              <a:t>"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, </a:t>
            </a:r>
            <a:r>
              <a:rPr lang="en-US" altLang="en-US" sz="1100" dirty="0">
                <a:solidFill>
                  <a:srgbClr val="6A8759"/>
                </a:solidFill>
                <a:latin typeface="Arial Unicode MS"/>
                <a:ea typeface="JetBrains Mono"/>
              </a:rPr>
              <a:t>"(</a:t>
            </a:r>
            <a:r>
              <a:rPr lang="en-US" altLang="en-US" sz="1100" dirty="0" err="1">
                <a:solidFill>
                  <a:srgbClr val="6A8759"/>
                </a:solidFill>
                <a:latin typeface="Arial Unicode MS"/>
                <a:ea typeface="JetBrains Mono"/>
              </a:rPr>
              <a:t>Ljava</a:t>
            </a:r>
            <a:r>
              <a:rPr lang="en-US" altLang="en-US" sz="1100" dirty="0">
                <a:solidFill>
                  <a:srgbClr val="6A8759"/>
                </a:solidFill>
                <a:latin typeface="Arial Unicode MS"/>
                <a:ea typeface="JetBrains Mono"/>
              </a:rPr>
              <a:t>/lang/String;)V"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)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;</a:t>
            </a:r>
            <a:b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</a:b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    </a:t>
            </a:r>
            <a:r>
              <a:rPr lang="en-US" altLang="en-US" sz="1100" dirty="0" err="1">
                <a:solidFill>
                  <a:srgbClr val="B9BCD1"/>
                </a:solidFill>
                <a:latin typeface="Arial Unicode MS"/>
                <a:ea typeface="JetBrains Mono"/>
              </a:rPr>
              <a:t>jstring</a:t>
            </a:r>
            <a:r>
              <a:rPr lang="en-US" altLang="en-US" sz="1100" dirty="0">
                <a:solidFill>
                  <a:srgbClr val="B9BCD1"/>
                </a:solidFill>
                <a:latin typeface="Arial Unicode MS"/>
                <a:ea typeface="JetBrains Mono"/>
              </a:rPr>
              <a:t> 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bob = env-&gt;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NewStringUTF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(</a:t>
            </a:r>
            <a:r>
              <a:rPr lang="en-US" altLang="en-US" sz="1100" dirty="0">
                <a:solidFill>
                  <a:srgbClr val="6A8759"/>
                </a:solidFill>
                <a:latin typeface="Arial Unicode MS"/>
                <a:ea typeface="JetBrains Mono"/>
              </a:rPr>
              <a:t>"</a:t>
            </a:r>
            <a:r>
              <a:rPr lang="en-US" altLang="en-US" sz="1100" dirty="0" err="1">
                <a:solidFill>
                  <a:srgbClr val="6A8759"/>
                </a:solidFill>
                <a:latin typeface="Arial Unicode MS"/>
                <a:ea typeface="JetBrains Mono"/>
              </a:rPr>
              <a:t>Hi,my</a:t>
            </a:r>
            <a:r>
              <a:rPr lang="en-US" altLang="en-US" sz="1100" dirty="0">
                <a:solidFill>
                  <a:srgbClr val="6A8759"/>
                </a:solidFill>
                <a:latin typeface="Arial Unicode MS"/>
                <a:ea typeface="JetBrains Mono"/>
              </a:rPr>
              <a:t> name is Bob"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)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;</a:t>
            </a:r>
            <a:b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</a:b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    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env-&gt;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CallVoidMethod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(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g_obj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, 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jmid</a:t>
            </a:r>
            <a:r>
              <a:rPr lang="en-US" altLang="en-US" sz="1100" dirty="0" err="1">
                <a:solidFill>
                  <a:srgbClr val="CC7832"/>
                </a:solidFill>
                <a:latin typeface="Arial Unicode MS"/>
                <a:ea typeface="JetBrains Mono"/>
              </a:rPr>
              <a:t>,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bob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)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g_VM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-&gt;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DetachCurrentThread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</a:b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    return </a:t>
            </a:r>
            <a:r>
              <a:rPr lang="en-US" altLang="en-US" sz="1100" dirty="0">
                <a:solidFill>
                  <a:srgbClr val="908B25"/>
                </a:solidFill>
                <a:latin typeface="Arial Unicode MS"/>
                <a:ea typeface="JetBrains Mono"/>
              </a:rPr>
              <a:t>NULL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;</a:t>
            </a:r>
            <a:b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</a:b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}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extern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  <a:ea typeface="JetBrains Mono"/>
              </a:rPr>
              <a:t>"C“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908B25"/>
                </a:solidFill>
                <a:effectLst/>
                <a:latin typeface="Arial Unicode MS"/>
                <a:ea typeface="JetBrains Mono"/>
              </a:rPr>
              <a:t>JNIEXPORT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jstring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908B25"/>
                </a:solidFill>
                <a:effectLst/>
                <a:latin typeface="Arial Unicode MS"/>
                <a:ea typeface="JetBrains Mono"/>
              </a:rPr>
              <a:t>JNICALL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908B25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FFC66D"/>
                </a:solidFill>
                <a:effectLst/>
                <a:latin typeface="Arial Unicode MS"/>
                <a:ea typeface="JetBrains Mono"/>
              </a:rPr>
              <a:t>Java_com_example_jni</a:t>
            </a:r>
            <a:r>
              <a:rPr kumimoji="0" lang="en-US" altLang="zh-CN" sz="1100" b="0" i="0" u="none" strike="noStrike" cap="none" normalizeH="0" baseline="0" dirty="0" err="1">
                <a:ln>
                  <a:noFill/>
                </a:ln>
                <a:solidFill>
                  <a:srgbClr val="FFC66D"/>
                </a:solidFill>
                <a:effectLst/>
                <a:latin typeface="Arial Unicode MS"/>
                <a:ea typeface="JetBrains Mono"/>
              </a:rPr>
              <a:t>demo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FFC66D"/>
                </a:solidFill>
                <a:effectLst/>
                <a:latin typeface="Arial Unicode MS"/>
                <a:ea typeface="JetBrains Mono"/>
              </a:rPr>
              <a:t>_Hello_sayHello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JNIEnv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*env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jobject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thiz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) {</a:t>
            </a:r>
          </a:p>
          <a:p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    </a:t>
            </a:r>
            <a:r>
              <a:rPr lang="en-US" altLang="en-US" sz="1100" dirty="0" err="1">
                <a:solidFill>
                  <a:srgbClr val="B9BCD1"/>
                </a:solidFill>
                <a:latin typeface="Arial Unicode MS"/>
                <a:ea typeface="JetBrains Mono"/>
              </a:rPr>
              <a:t>pthread_t</a:t>
            </a:r>
            <a:r>
              <a:rPr lang="en-US" altLang="en-US" sz="1100" dirty="0">
                <a:solidFill>
                  <a:srgbClr val="B9BCD1"/>
                </a:solidFill>
                <a:latin typeface="Arial Unicode MS"/>
                <a:ea typeface="JetBrains Mono"/>
              </a:rPr>
              <a:t> 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thread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;</a:t>
            </a:r>
            <a:b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</a:b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    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env-&gt;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GetJavaVM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(&amp;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g_VM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)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;</a:t>
            </a:r>
            <a:b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</a:b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    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g_obj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 = env-&gt;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NewGlobalRef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(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thiz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)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;</a:t>
            </a:r>
            <a:b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</a:b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    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pthread_create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(&amp;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thread</a:t>
            </a:r>
            <a:r>
              <a:rPr lang="en-US" altLang="en-US" sz="1100" dirty="0" err="1">
                <a:solidFill>
                  <a:srgbClr val="CC7832"/>
                </a:solidFill>
                <a:latin typeface="Arial Unicode MS"/>
                <a:ea typeface="JetBrains Mono"/>
              </a:rPr>
              <a:t>,</a:t>
            </a:r>
            <a:r>
              <a:rPr lang="en-US" altLang="en-US" sz="1100" dirty="0" err="1">
                <a:solidFill>
                  <a:srgbClr val="908B25"/>
                </a:solidFill>
                <a:latin typeface="Arial Unicode MS"/>
                <a:ea typeface="JetBrains Mono"/>
              </a:rPr>
              <a:t>NULL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,  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sayHelloThread</a:t>
            </a:r>
            <a:r>
              <a:rPr lang="en-US" altLang="en-US" sz="1100" dirty="0" err="1">
                <a:solidFill>
                  <a:srgbClr val="CC7832"/>
                </a:solidFill>
                <a:latin typeface="Arial Unicode MS"/>
                <a:ea typeface="JetBrains Mono"/>
              </a:rPr>
              <a:t>,</a:t>
            </a:r>
            <a:r>
              <a:rPr lang="en-US" altLang="en-US" sz="1100" dirty="0" err="1">
                <a:solidFill>
                  <a:srgbClr val="908B25"/>
                </a:solidFill>
                <a:latin typeface="Arial Unicode MS"/>
                <a:ea typeface="JetBrains Mono"/>
              </a:rPr>
              <a:t>NULL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)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;</a:t>
            </a:r>
            <a:b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</a:b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    return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}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D0814410-117E-A04D-80EB-6B861E934E23}"/>
              </a:ext>
            </a:extLst>
          </p:cNvPr>
          <p:cNvSpPr txBox="1"/>
          <p:nvPr/>
        </p:nvSpPr>
        <p:spPr>
          <a:xfrm>
            <a:off x="9626347" y="1043189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dts</a:t>
            </a:r>
            <a:r>
              <a:rPr lang="en-US" altLang="zh-CN" dirty="0"/>
              <a:t>/</a:t>
            </a:r>
            <a:r>
              <a:rPr lang="en-US" altLang="zh-CN" dirty="0" err="1"/>
              <a:t>ets</a:t>
            </a:r>
            <a:endParaRPr lang="en-CA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2AEEB25-260A-F3AC-5057-47175F919C1F}"/>
              </a:ext>
            </a:extLst>
          </p:cNvPr>
          <p:cNvSpPr txBox="1"/>
          <p:nvPr/>
        </p:nvSpPr>
        <p:spPr>
          <a:xfrm>
            <a:off x="1112793" y="2498513"/>
            <a:ext cx="71484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i="0" dirty="0">
                <a:effectLst/>
                <a:latin typeface="-apple-system"/>
              </a:rPr>
              <a:t>其他线程里面回调到</a:t>
            </a:r>
            <a:r>
              <a:rPr lang="en-US" altLang="zh-CN" sz="1400" b="1" i="0" dirty="0">
                <a:effectLst/>
                <a:latin typeface="-apple-system"/>
              </a:rPr>
              <a:t>java</a:t>
            </a:r>
            <a:r>
              <a:rPr lang="zh-CN" altLang="en-US" sz="1400" b="1" i="0" dirty="0">
                <a:effectLst/>
                <a:latin typeface="-apple-system"/>
              </a:rPr>
              <a:t>层，通过</a:t>
            </a:r>
            <a:r>
              <a:rPr lang="en-US" altLang="zh-CN" sz="1400" b="1" i="0" dirty="0" err="1">
                <a:effectLst/>
                <a:latin typeface="-apple-system"/>
              </a:rPr>
              <a:t>NewGlobalRef</a:t>
            </a:r>
            <a:r>
              <a:rPr lang="zh-CN" altLang="en-US" sz="1400" b="1" i="0" dirty="0">
                <a:effectLst/>
                <a:latin typeface="-apple-system"/>
              </a:rPr>
              <a:t>，保存全局变量</a:t>
            </a:r>
            <a:endParaRPr lang="en-US" sz="14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A00635E-02A2-B1A3-A705-7E3CC7BCBF7E}"/>
              </a:ext>
            </a:extLst>
          </p:cNvPr>
          <p:cNvSpPr txBox="1"/>
          <p:nvPr/>
        </p:nvSpPr>
        <p:spPr>
          <a:xfrm>
            <a:off x="9194800" y="4342934"/>
            <a:ext cx="1828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-apple-system"/>
              </a:rPr>
              <a:t>JVM and multithread involved</a:t>
            </a:r>
          </a:p>
          <a:p>
            <a:pPr algn="ctr"/>
            <a:r>
              <a:rPr lang="en-US" sz="1400" b="1" dirty="0">
                <a:latin typeface="-apple-system"/>
              </a:rPr>
              <a:t>Code not available yet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828855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3DC25D-DB16-EB1B-0BB0-A6F45E3DD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Scenario - Callback-Listener</a:t>
            </a:r>
            <a:endParaRPr lang="en-US" dirty="0"/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656B62EA-2EAC-2B75-DDE8-2307EE2F7022}"/>
              </a:ext>
            </a:extLst>
          </p:cNvPr>
          <p:cNvSpPr txBox="1"/>
          <p:nvPr/>
        </p:nvSpPr>
        <p:spPr>
          <a:xfrm>
            <a:off x="496374" y="707045"/>
            <a:ext cx="5597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java</a:t>
            </a:r>
            <a:endParaRPr lang="en-CA" sz="1600" dirty="0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BAB9169B-31F1-789C-B0C8-34751E30E355}"/>
              </a:ext>
            </a:extLst>
          </p:cNvPr>
          <p:cNvSpPr txBox="1"/>
          <p:nvPr/>
        </p:nvSpPr>
        <p:spPr>
          <a:xfrm>
            <a:off x="491204" y="2519636"/>
            <a:ext cx="4924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JNI</a:t>
            </a:r>
            <a:endParaRPr lang="en-CA" sz="1600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1A5FD6CE-4926-09F3-581C-1C7DA3F59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11" y="1020290"/>
            <a:ext cx="5256250" cy="145734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45720" rIns="91440" bIns="0" numCol="1" anchor="ctr" anchorCtr="0" compatLnSpc="1">
            <a:no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CA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package </a:t>
            </a:r>
            <a:r>
              <a:rPr kumimoji="0" lang="en-CA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com.example.jnidemo</a:t>
            </a:r>
            <a:r>
              <a:rPr kumimoji="0" lang="en-CA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;</a:t>
            </a:r>
            <a:br>
              <a:rPr kumimoji="0" lang="en-CA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</a:br>
            <a:r>
              <a:rPr kumimoji="0" lang="en-CA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public class </a:t>
            </a:r>
            <a:r>
              <a:rPr kumimoji="0" lang="en-CA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Hello 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CC7832"/>
                </a:solidFill>
                <a:latin typeface="Arial Unicode MS"/>
                <a:ea typeface="JetBrains Mono"/>
              </a:rPr>
              <a:t>    interface </a:t>
            </a:r>
            <a:r>
              <a:rPr lang="en-US" altLang="en-US" sz="1200" dirty="0" err="1">
                <a:solidFill>
                  <a:srgbClr val="A9B7C6"/>
                </a:solidFill>
                <a:latin typeface="Arial Unicode MS"/>
                <a:ea typeface="JetBrains Mono"/>
              </a:rPr>
              <a:t>ISayHelloListener</a:t>
            </a: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{</a:t>
            </a:r>
            <a:b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</a:b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        </a:t>
            </a:r>
            <a:r>
              <a:rPr lang="en-US" altLang="en-US" sz="1200" dirty="0">
                <a:solidFill>
                  <a:srgbClr val="CC7832"/>
                </a:solidFill>
                <a:latin typeface="Arial Unicode MS"/>
                <a:ea typeface="JetBrains Mono"/>
              </a:rPr>
              <a:t>public void </a:t>
            </a:r>
            <a:r>
              <a:rPr lang="en-US" altLang="en-US" sz="1200" dirty="0" err="1">
                <a:solidFill>
                  <a:srgbClr val="FFC66D"/>
                </a:solidFill>
                <a:latin typeface="Arial Unicode MS"/>
                <a:ea typeface="JetBrains Mono"/>
              </a:rPr>
              <a:t>onSayHelloBack</a:t>
            </a: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(String response)</a:t>
            </a:r>
            <a:r>
              <a:rPr lang="en-US" altLang="en-US" sz="1200" dirty="0">
                <a:solidFill>
                  <a:srgbClr val="CC7832"/>
                </a:solidFill>
                <a:latin typeface="Arial Unicode MS"/>
                <a:ea typeface="JetBrains Mono"/>
              </a:rPr>
              <a:t>;</a:t>
            </a:r>
            <a:br>
              <a:rPr lang="en-US" altLang="en-US" sz="1200" dirty="0">
                <a:solidFill>
                  <a:srgbClr val="CC7832"/>
                </a:solidFill>
                <a:latin typeface="Arial Unicode MS"/>
                <a:ea typeface="JetBrains Mono"/>
              </a:rPr>
            </a:br>
            <a:r>
              <a:rPr lang="en-US" altLang="en-US" sz="1200" dirty="0">
                <a:solidFill>
                  <a:srgbClr val="CC7832"/>
                </a:solidFill>
                <a:latin typeface="Arial Unicode MS"/>
                <a:ea typeface="JetBrains Mono"/>
              </a:rPr>
              <a:t>    </a:t>
            </a: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}</a:t>
            </a:r>
            <a:b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</a:b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    </a:t>
            </a:r>
            <a:r>
              <a:rPr lang="en-US" altLang="en-US" sz="1200" dirty="0">
                <a:solidFill>
                  <a:srgbClr val="CC7832"/>
                </a:solidFill>
                <a:latin typeface="Arial Unicode MS"/>
                <a:ea typeface="JetBrains Mono"/>
              </a:rPr>
              <a:t>public native void </a:t>
            </a:r>
            <a:r>
              <a:rPr lang="en-US" altLang="en-US" sz="1200" dirty="0" err="1">
                <a:solidFill>
                  <a:srgbClr val="FFC66D"/>
                </a:solidFill>
                <a:latin typeface="Arial Unicode MS"/>
                <a:ea typeface="JetBrains Mono"/>
              </a:rPr>
              <a:t>sayHelloCallback</a:t>
            </a: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(</a:t>
            </a:r>
            <a:r>
              <a:rPr lang="en-US" altLang="en-US" sz="1200" dirty="0" err="1">
                <a:solidFill>
                  <a:srgbClr val="A9B7C6"/>
                </a:solidFill>
                <a:latin typeface="Arial Unicode MS"/>
                <a:ea typeface="JetBrains Mono"/>
              </a:rPr>
              <a:t>ISayHelloListener</a:t>
            </a: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 </a:t>
            </a:r>
            <a:r>
              <a:rPr lang="en-US" altLang="en-US" sz="1200" dirty="0" err="1">
                <a:solidFill>
                  <a:srgbClr val="A9B7C6"/>
                </a:solidFill>
                <a:latin typeface="Arial Unicode MS"/>
                <a:ea typeface="JetBrains Mono"/>
              </a:rPr>
              <a:t>sayHelloListener</a:t>
            </a: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)</a:t>
            </a:r>
            <a:r>
              <a:rPr lang="en-US" altLang="en-US" sz="1200" dirty="0">
                <a:solidFill>
                  <a:srgbClr val="CC7832"/>
                </a:solidFill>
                <a:latin typeface="Arial Unicode MS"/>
                <a:ea typeface="JetBrains Mono"/>
              </a:rPr>
              <a:t>;</a:t>
            </a:r>
            <a:endParaRPr lang="en-US" altLang="en-US" sz="3200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}</a:t>
            </a:r>
            <a:r>
              <a:rPr lang="en-CA" altLang="en-US" sz="1200" dirty="0">
                <a:solidFill>
                  <a:srgbClr val="CC7832"/>
                </a:solidFill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  </a:t>
            </a:r>
            <a:endParaRPr kumimoji="0" lang="en-CA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D5AA591A-C0DA-D6D4-9B04-5807AD09272D}"/>
              </a:ext>
            </a:extLst>
          </p:cNvPr>
          <p:cNvSpPr txBox="1"/>
          <p:nvPr/>
        </p:nvSpPr>
        <p:spPr>
          <a:xfrm>
            <a:off x="10983734" y="3189264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aki</a:t>
            </a:r>
            <a:endParaRPr lang="en-CA" dirty="0"/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D149502F-1561-D872-E9F8-284A7746CDC8}"/>
              </a:ext>
            </a:extLst>
          </p:cNvPr>
          <p:cNvSpPr/>
          <p:nvPr/>
        </p:nvSpPr>
        <p:spPr bwMode="auto">
          <a:xfrm>
            <a:off x="478384" y="779928"/>
            <a:ext cx="9362895" cy="536358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9200" tIns="39600" rIns="79200" bIns="39600" numCol="1" rtlCol="0" anchor="t" anchorCtr="0" compatLnSpc="1">
            <a:noAutofit/>
          </a:bodyPr>
          <a:lstStyle/>
          <a:p>
            <a:pPr marL="0" marR="0" indent="0" algn="l" defTabSz="8020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CA" sz="1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6" name="Rectangle 14">
            <a:extLst>
              <a:ext uri="{FF2B5EF4-FFF2-40B4-BE49-F238E27FC236}">
                <a16:creationId xmlns:a16="http://schemas.microsoft.com/office/drawing/2014/main" id="{A1AF32F0-179B-8210-2234-6C16C4573DB0}"/>
              </a:ext>
            </a:extLst>
          </p:cNvPr>
          <p:cNvSpPr/>
          <p:nvPr/>
        </p:nvSpPr>
        <p:spPr bwMode="auto">
          <a:xfrm>
            <a:off x="10656140" y="993788"/>
            <a:ext cx="1134806" cy="514972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9200" tIns="39600" rIns="79200" bIns="39600" numCol="1" rtlCol="0" anchor="t" anchorCtr="0" compatLnSpc="1">
            <a:noAutofit/>
          </a:bodyPr>
          <a:lstStyle/>
          <a:p>
            <a:pPr marL="0" marR="0" indent="0" algn="l" defTabSz="8020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CA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7" name="Right Arrow 15">
            <a:extLst>
              <a:ext uri="{FF2B5EF4-FFF2-40B4-BE49-F238E27FC236}">
                <a16:creationId xmlns:a16="http://schemas.microsoft.com/office/drawing/2014/main" id="{D274732E-143C-CDD8-28F5-BEF733B6651A}"/>
              </a:ext>
            </a:extLst>
          </p:cNvPr>
          <p:cNvSpPr/>
          <p:nvPr/>
        </p:nvSpPr>
        <p:spPr bwMode="auto">
          <a:xfrm>
            <a:off x="9976513" y="3429000"/>
            <a:ext cx="515624" cy="523550"/>
          </a:xfrm>
          <a:prstGeom prst="right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9200" tIns="39600" rIns="79200" bIns="39600" numCol="1" rtlCol="0" anchor="t" anchorCtr="0" compatLnSpc="1">
            <a:noAutofit/>
          </a:bodyPr>
          <a:lstStyle/>
          <a:p>
            <a:pPr marL="0" marR="0" indent="0" algn="l" defTabSz="8020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CA" sz="1400" b="0" i="0" u="none" strike="noStrike" cap="none" normalizeH="0" baseline="0">
              <a:ln>
                <a:noFill/>
              </a:ln>
              <a:noFill/>
              <a:effectLst/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167390C-039F-2EFC-8B26-B4EFA581D00C}"/>
              </a:ext>
            </a:extLst>
          </p:cNvPr>
          <p:cNvSpPr txBox="1"/>
          <p:nvPr/>
        </p:nvSpPr>
        <p:spPr>
          <a:xfrm>
            <a:off x="607530" y="2818818"/>
            <a:ext cx="9157411" cy="3054608"/>
          </a:xfrm>
          <a:prstGeom prst="rect">
            <a:avLst/>
          </a:prstGeom>
          <a:solidFill>
            <a:schemeClr val="tx1"/>
          </a:solidFill>
        </p:spPr>
        <p:txBody>
          <a:bodyPr wrap="square" numCol="2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100" dirty="0">
                <a:solidFill>
                  <a:srgbClr val="B9BCD1"/>
                </a:solidFill>
                <a:latin typeface="Arial Unicode MS"/>
                <a:ea typeface="JetBrains Mono"/>
              </a:rPr>
              <a:t> </a:t>
            </a:r>
            <a:r>
              <a:rPr lang="en-US" altLang="en-US" sz="1100" dirty="0" err="1">
                <a:solidFill>
                  <a:srgbClr val="B9BCD1"/>
                </a:solidFill>
                <a:latin typeface="Arial Unicode MS"/>
                <a:ea typeface="JetBrains Mono"/>
              </a:rPr>
              <a:t>JavaVM</a:t>
            </a:r>
            <a:r>
              <a:rPr lang="en-US" altLang="en-US" sz="1100" dirty="0">
                <a:solidFill>
                  <a:srgbClr val="B9BCD1"/>
                </a:solidFill>
                <a:latin typeface="Arial Unicode MS"/>
                <a:ea typeface="JetBrains Mono"/>
              </a:rPr>
              <a:t> 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*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g_VM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;</a:t>
            </a:r>
            <a:b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</a:br>
            <a:r>
              <a:rPr lang="en-US" altLang="en-US" sz="1100" dirty="0" err="1">
                <a:solidFill>
                  <a:srgbClr val="B9BCD1"/>
                </a:solidFill>
                <a:latin typeface="Arial Unicode MS"/>
                <a:ea typeface="JetBrains Mono"/>
              </a:rPr>
              <a:t>jobject</a:t>
            </a:r>
            <a:r>
              <a:rPr lang="en-US" altLang="en-US" sz="1100" dirty="0">
                <a:solidFill>
                  <a:srgbClr val="B9BCD1"/>
                </a:solidFill>
                <a:latin typeface="Arial Unicode MS"/>
                <a:ea typeface="JetBrains Mono"/>
              </a:rPr>
              <a:t> 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g_obj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;</a:t>
            </a:r>
            <a:b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</a:b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void  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* </a:t>
            </a:r>
            <a:r>
              <a:rPr lang="en-US" altLang="en-US" sz="1100" dirty="0" err="1">
                <a:solidFill>
                  <a:srgbClr val="FFC66D"/>
                </a:solidFill>
                <a:latin typeface="Arial Unicode MS"/>
                <a:ea typeface="JetBrains Mono"/>
              </a:rPr>
              <a:t>sayHelloCbImpl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(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void 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*p) {</a:t>
            </a:r>
            <a:b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</a:b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    </a:t>
            </a:r>
            <a:r>
              <a:rPr lang="en-US" altLang="en-US" sz="1100" dirty="0" err="1">
                <a:solidFill>
                  <a:srgbClr val="B9BCD1"/>
                </a:solidFill>
                <a:latin typeface="Arial Unicode MS"/>
                <a:ea typeface="JetBrains Mono"/>
              </a:rPr>
              <a:t>JNIEnv</a:t>
            </a:r>
            <a:r>
              <a:rPr lang="en-US" altLang="en-US" sz="1100" dirty="0">
                <a:solidFill>
                  <a:srgbClr val="B9BCD1"/>
                </a:solidFill>
                <a:latin typeface="Arial Unicode MS"/>
                <a:ea typeface="JetBrains Mono"/>
              </a:rPr>
              <a:t> 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*env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;</a:t>
            </a:r>
            <a:b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</a:b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    int 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getEnvStat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 = 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g_VM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-&gt;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GetEnv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( (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void 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**) &amp;env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,</a:t>
            </a:r>
            <a:r>
              <a:rPr lang="en-US" altLang="en-US" sz="1100" dirty="0">
                <a:solidFill>
                  <a:srgbClr val="908B25"/>
                </a:solidFill>
                <a:latin typeface="Arial Unicode MS"/>
                <a:ea typeface="JetBrains Mono"/>
              </a:rPr>
              <a:t>JNI_VERSION_1_6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)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;</a:t>
            </a:r>
            <a:b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</a:b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    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g_VM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-&gt;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AttachCurrentThread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(&amp;env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, </a:t>
            </a:r>
            <a:r>
              <a:rPr lang="en-US" altLang="en-US" sz="1100" dirty="0">
                <a:solidFill>
                  <a:srgbClr val="908B25"/>
                </a:solidFill>
                <a:latin typeface="Arial Unicode MS"/>
                <a:ea typeface="JetBrains Mono"/>
              </a:rPr>
              <a:t>NULL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) != </a:t>
            </a:r>
            <a:r>
              <a:rPr lang="en-US" altLang="en-US" sz="1100" dirty="0">
                <a:solidFill>
                  <a:srgbClr val="6897BB"/>
                </a:solidFill>
                <a:latin typeface="Arial Unicode MS"/>
                <a:ea typeface="JetBrains Mono"/>
              </a:rPr>
              <a:t>0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) {</a:t>
            </a:r>
            <a:b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</a:b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    </a:t>
            </a:r>
            <a:r>
              <a:rPr lang="en-US" altLang="en-US" sz="1100" dirty="0" err="1">
                <a:solidFill>
                  <a:srgbClr val="B9BCD1"/>
                </a:solidFill>
                <a:latin typeface="Arial Unicode MS"/>
                <a:ea typeface="JetBrains Mono"/>
              </a:rPr>
              <a:t>jobject</a:t>
            </a:r>
            <a:r>
              <a:rPr lang="en-US" altLang="en-US" sz="1100" dirty="0">
                <a:solidFill>
                  <a:srgbClr val="B9BCD1"/>
                </a:solidFill>
                <a:latin typeface="Arial Unicode MS"/>
                <a:ea typeface="JetBrains Mono"/>
              </a:rPr>
              <a:t> 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jcallback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 = (</a:t>
            </a:r>
            <a:r>
              <a:rPr lang="en-US" altLang="en-US" sz="1100" dirty="0" err="1">
                <a:solidFill>
                  <a:srgbClr val="B9BCD1"/>
                </a:solidFill>
                <a:latin typeface="Arial Unicode MS"/>
                <a:ea typeface="JetBrains Mono"/>
              </a:rPr>
              <a:t>jobject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)p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;</a:t>
            </a:r>
            <a:b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</a:b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    </a:t>
            </a:r>
            <a:r>
              <a:rPr lang="en-US" altLang="en-US" sz="1100" dirty="0" err="1">
                <a:solidFill>
                  <a:srgbClr val="B9BCD1"/>
                </a:solidFill>
                <a:latin typeface="Arial Unicode MS"/>
                <a:ea typeface="JetBrains Mono"/>
              </a:rPr>
              <a:t>jclass</a:t>
            </a:r>
            <a:r>
              <a:rPr lang="en-US" altLang="en-US" sz="1100" dirty="0">
                <a:solidFill>
                  <a:srgbClr val="B9BCD1"/>
                </a:solidFill>
                <a:latin typeface="Arial Unicode MS"/>
                <a:ea typeface="JetBrains Mono"/>
              </a:rPr>
              <a:t> 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jc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 = env-&gt;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GetObjectClass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(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jcallback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)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;</a:t>
            </a:r>
            <a:b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</a:b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    </a:t>
            </a:r>
            <a:r>
              <a:rPr lang="en-US" altLang="en-US" sz="1100" dirty="0" err="1">
                <a:solidFill>
                  <a:srgbClr val="B9BCD1"/>
                </a:solidFill>
                <a:latin typeface="Arial Unicode MS"/>
                <a:ea typeface="JetBrains Mono"/>
              </a:rPr>
              <a:t>jmethodID</a:t>
            </a:r>
            <a:r>
              <a:rPr lang="en-US" altLang="en-US" sz="1100" dirty="0">
                <a:solidFill>
                  <a:srgbClr val="B9BCD1"/>
                </a:solidFill>
                <a:latin typeface="Arial Unicode MS"/>
                <a:ea typeface="JetBrains Mono"/>
              </a:rPr>
              <a:t> 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jmid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 = env-&gt;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GetMethodID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(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jc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, </a:t>
            </a:r>
            <a:r>
              <a:rPr lang="en-US" altLang="en-US" sz="1100" dirty="0">
                <a:solidFill>
                  <a:srgbClr val="6A8759"/>
                </a:solidFill>
                <a:latin typeface="Arial Unicode MS"/>
                <a:ea typeface="JetBrains Mono"/>
              </a:rPr>
              <a:t>"</a:t>
            </a:r>
            <a:r>
              <a:rPr lang="en-US" altLang="en-US" sz="1100" dirty="0" err="1">
                <a:solidFill>
                  <a:srgbClr val="6A8759"/>
                </a:solidFill>
                <a:latin typeface="Arial Unicode MS"/>
                <a:ea typeface="JetBrains Mono"/>
              </a:rPr>
              <a:t>onSayHelloBack</a:t>
            </a:r>
            <a:r>
              <a:rPr lang="en-US" altLang="en-US" sz="1100" dirty="0">
                <a:solidFill>
                  <a:srgbClr val="6A8759"/>
                </a:solidFill>
                <a:latin typeface="Arial Unicode MS"/>
                <a:ea typeface="JetBrains Mono"/>
              </a:rPr>
              <a:t>"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, </a:t>
            </a:r>
            <a:r>
              <a:rPr lang="en-US" altLang="en-US" sz="1100" dirty="0">
                <a:solidFill>
                  <a:srgbClr val="6A8759"/>
                </a:solidFill>
                <a:latin typeface="Arial Unicode MS"/>
                <a:ea typeface="JetBrains Mono"/>
              </a:rPr>
              <a:t>"(</a:t>
            </a:r>
            <a:r>
              <a:rPr lang="en-US" altLang="en-US" sz="1100" dirty="0" err="1">
                <a:solidFill>
                  <a:srgbClr val="6A8759"/>
                </a:solidFill>
                <a:latin typeface="Arial Unicode MS"/>
                <a:ea typeface="JetBrains Mono"/>
              </a:rPr>
              <a:t>Ljava</a:t>
            </a:r>
            <a:r>
              <a:rPr lang="en-US" altLang="en-US" sz="1100" dirty="0">
                <a:solidFill>
                  <a:srgbClr val="6A8759"/>
                </a:solidFill>
                <a:latin typeface="Arial Unicode MS"/>
                <a:ea typeface="JetBrains Mono"/>
              </a:rPr>
              <a:t>/lang/String;)V"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)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;</a:t>
            </a:r>
            <a:b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</a:b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    </a:t>
            </a:r>
            <a:r>
              <a:rPr lang="en-US" altLang="en-US" sz="1100" dirty="0" err="1">
                <a:solidFill>
                  <a:srgbClr val="B9BCD1"/>
                </a:solidFill>
                <a:latin typeface="Arial Unicode MS"/>
                <a:ea typeface="JetBrains Mono"/>
              </a:rPr>
              <a:t>jstring</a:t>
            </a:r>
            <a:r>
              <a:rPr lang="en-US" altLang="en-US" sz="1100" dirty="0">
                <a:solidFill>
                  <a:srgbClr val="B9BCD1"/>
                </a:solidFill>
                <a:latin typeface="Arial Unicode MS"/>
                <a:ea typeface="JetBrains Mono"/>
              </a:rPr>
              <a:t> 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bob = env-&gt;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NewStringUTF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(</a:t>
            </a:r>
            <a:r>
              <a:rPr lang="en-US" altLang="en-US" sz="1100" dirty="0">
                <a:solidFill>
                  <a:srgbClr val="6A8759"/>
                </a:solidFill>
                <a:latin typeface="Arial Unicode MS"/>
                <a:ea typeface="JetBrains Mono"/>
              </a:rPr>
              <a:t>"</a:t>
            </a:r>
            <a:r>
              <a:rPr lang="en-US" altLang="en-US" sz="1100" dirty="0" err="1">
                <a:solidFill>
                  <a:srgbClr val="6A8759"/>
                </a:solidFill>
                <a:latin typeface="Arial Unicode MS"/>
                <a:ea typeface="JetBrains Mono"/>
              </a:rPr>
              <a:t>Hi,my</a:t>
            </a:r>
            <a:r>
              <a:rPr lang="en-US" altLang="en-US" sz="1100" dirty="0">
                <a:solidFill>
                  <a:srgbClr val="6A8759"/>
                </a:solidFill>
                <a:latin typeface="Arial Unicode MS"/>
                <a:ea typeface="JetBrains Mono"/>
              </a:rPr>
              <a:t> name is Bob"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)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;</a:t>
            </a:r>
            <a:b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</a:b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    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env-&gt;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CallVoidMethod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(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jcallback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, 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jmid</a:t>
            </a:r>
            <a:r>
              <a:rPr lang="en-US" altLang="en-US" sz="1100" dirty="0" err="1">
                <a:solidFill>
                  <a:srgbClr val="CC7832"/>
                </a:solidFill>
                <a:latin typeface="Arial Unicode MS"/>
                <a:ea typeface="JetBrains Mono"/>
              </a:rPr>
              <a:t>,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bob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)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;</a:t>
            </a:r>
            <a:b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</a:b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    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g_VM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-&gt;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DetachCurrentThread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()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;</a:t>
            </a:r>
            <a:b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</a:br>
            <a:b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</a:b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    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env = </a:t>
            </a:r>
            <a:r>
              <a:rPr lang="en-US" altLang="en-US" sz="1100" dirty="0">
                <a:solidFill>
                  <a:srgbClr val="908B25"/>
                </a:solidFill>
                <a:latin typeface="Arial Unicode MS"/>
                <a:ea typeface="JetBrains Mono"/>
              </a:rPr>
              <a:t>NULL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;</a:t>
            </a:r>
            <a:b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</a:b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    return </a:t>
            </a:r>
            <a:r>
              <a:rPr lang="en-US" altLang="en-US" sz="1100" dirty="0">
                <a:solidFill>
                  <a:srgbClr val="908B25"/>
                </a:solidFill>
                <a:latin typeface="Arial Unicode MS"/>
                <a:ea typeface="JetBrains Mono"/>
              </a:rPr>
              <a:t>NULL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;</a:t>
            </a:r>
            <a:b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</a:b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}</a:t>
            </a:r>
            <a:endParaRPr lang="en-US" altLang="en-US" sz="1100" dirty="0">
              <a:solidFill>
                <a:srgbClr val="CC7832"/>
              </a:solidFill>
              <a:latin typeface="Arial Unicode MS"/>
              <a:ea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extern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  <a:ea typeface="JetBrains Mono"/>
              </a:rPr>
              <a:t>"C“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908B25"/>
                </a:solidFill>
                <a:effectLst/>
                <a:latin typeface="Arial Unicode MS"/>
                <a:ea typeface="JetBrains Mono"/>
              </a:rPr>
              <a:t>JNIEXPORT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jstring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908B25"/>
                </a:solidFill>
                <a:effectLst/>
                <a:latin typeface="Arial Unicode MS"/>
                <a:ea typeface="JetBrains Mono"/>
              </a:rPr>
              <a:t>JNICALL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908B25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FFC66D"/>
                </a:solidFill>
                <a:effectLst/>
                <a:latin typeface="Arial Unicode MS"/>
                <a:ea typeface="JetBrains Mono"/>
              </a:rPr>
              <a:t>Java_com_example_jni</a:t>
            </a:r>
            <a:r>
              <a:rPr kumimoji="0" lang="en-US" altLang="zh-CN" sz="1100" b="0" i="0" u="none" strike="noStrike" cap="none" normalizeH="0" baseline="0" dirty="0" err="1">
                <a:ln>
                  <a:noFill/>
                </a:ln>
                <a:solidFill>
                  <a:srgbClr val="FFC66D"/>
                </a:solidFill>
                <a:effectLst/>
                <a:latin typeface="Arial Unicode MS"/>
                <a:ea typeface="JetBrains Mono"/>
              </a:rPr>
              <a:t>demo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FFC66D"/>
                </a:solidFill>
                <a:effectLst/>
                <a:latin typeface="Arial Unicode MS"/>
                <a:ea typeface="JetBrains Mono"/>
              </a:rPr>
              <a:t>_Hello_sayHello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JNIEnv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*env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jobject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thiz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) 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    </a:t>
            </a:r>
            <a:r>
              <a:rPr lang="en-US" altLang="en-US" sz="1100" dirty="0" err="1">
                <a:solidFill>
                  <a:srgbClr val="B9BCD1"/>
                </a:solidFill>
                <a:latin typeface="Arial Unicode MS"/>
                <a:ea typeface="JetBrains Mono"/>
              </a:rPr>
              <a:t>pthread_t</a:t>
            </a:r>
            <a:r>
              <a:rPr lang="en-US" altLang="en-US" sz="1100" dirty="0">
                <a:solidFill>
                  <a:srgbClr val="B9BCD1"/>
                </a:solidFill>
                <a:latin typeface="Arial Unicode MS"/>
                <a:ea typeface="JetBrains Mono"/>
              </a:rPr>
              <a:t> 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thread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;</a:t>
            </a:r>
            <a:b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</a:b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    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env-&gt;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GetJavaVM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(&amp;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g_VM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)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;</a:t>
            </a:r>
            <a:b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</a:b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    </a:t>
            </a:r>
            <a:r>
              <a:rPr lang="en-US" altLang="en-US" sz="1100" dirty="0" err="1">
                <a:solidFill>
                  <a:srgbClr val="B9BCD1"/>
                </a:solidFill>
                <a:latin typeface="Arial Unicode MS"/>
                <a:ea typeface="JetBrains Mono"/>
              </a:rPr>
              <a:t>jobject</a:t>
            </a:r>
            <a:r>
              <a:rPr lang="en-US" altLang="en-US" sz="1100" dirty="0">
                <a:solidFill>
                  <a:srgbClr val="B9BCD1"/>
                </a:solidFill>
                <a:latin typeface="Arial Unicode MS"/>
                <a:ea typeface="JetBrains Mono"/>
              </a:rPr>
              <a:t> 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callback = env-&gt;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NewGlobalRef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(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jcb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)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;</a:t>
            </a:r>
            <a:b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</a:b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    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pthread_create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(&amp;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thread</a:t>
            </a:r>
            <a:r>
              <a:rPr lang="en-US" altLang="en-US" sz="1100" dirty="0" err="1">
                <a:solidFill>
                  <a:srgbClr val="CC7832"/>
                </a:solidFill>
                <a:latin typeface="Arial Unicode MS"/>
                <a:ea typeface="JetBrains Mono"/>
              </a:rPr>
              <a:t>,</a:t>
            </a:r>
            <a:r>
              <a:rPr lang="en-US" altLang="en-US" sz="1100" dirty="0" err="1">
                <a:solidFill>
                  <a:srgbClr val="908B25"/>
                </a:solidFill>
                <a:latin typeface="Arial Unicode MS"/>
                <a:ea typeface="JetBrains Mono"/>
              </a:rPr>
              <a:t>NULL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, 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sayHelloCbImpl</a:t>
            </a:r>
            <a:r>
              <a:rPr lang="en-US" altLang="en-US" sz="1100" dirty="0" err="1">
                <a:solidFill>
                  <a:srgbClr val="CC7832"/>
                </a:solidFill>
                <a:latin typeface="Arial Unicode MS"/>
                <a:ea typeface="JetBrains Mono"/>
              </a:rPr>
              <a:t>,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callback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)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;</a:t>
            </a:r>
            <a:b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</a:b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    return ;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A9B7C6"/>
              </a:solidFill>
              <a:effectLst/>
              <a:latin typeface="Arial Unicode MS"/>
              <a:ea typeface="JetBrains Mono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}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D0814410-117E-A04D-80EB-6B861E934E23}"/>
              </a:ext>
            </a:extLst>
          </p:cNvPr>
          <p:cNvSpPr txBox="1"/>
          <p:nvPr/>
        </p:nvSpPr>
        <p:spPr>
          <a:xfrm>
            <a:off x="10791374" y="1273568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dts</a:t>
            </a:r>
            <a:r>
              <a:rPr lang="en-US" altLang="zh-CN" dirty="0"/>
              <a:t>/</a:t>
            </a:r>
            <a:r>
              <a:rPr lang="en-US" altLang="zh-CN" dirty="0" err="1"/>
              <a:t>ets</a:t>
            </a:r>
            <a:endParaRPr lang="en-CA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2AEEB25-260A-F3AC-5057-47175F919C1F}"/>
              </a:ext>
            </a:extLst>
          </p:cNvPr>
          <p:cNvSpPr txBox="1"/>
          <p:nvPr/>
        </p:nvSpPr>
        <p:spPr>
          <a:xfrm>
            <a:off x="1112793" y="2498513"/>
            <a:ext cx="52076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i="0" dirty="0">
                <a:effectLst/>
                <a:latin typeface="-apple-system"/>
              </a:rPr>
              <a:t>通过把接口</a:t>
            </a:r>
            <a:r>
              <a:rPr lang="en-US" altLang="zh-CN" sz="1400" b="1" i="0" dirty="0" err="1">
                <a:effectLst/>
                <a:latin typeface="-apple-system"/>
              </a:rPr>
              <a:t>jobject</a:t>
            </a:r>
            <a:r>
              <a:rPr lang="en-US" altLang="zh-CN" sz="1400" b="1" i="0" dirty="0">
                <a:effectLst/>
                <a:latin typeface="-apple-system"/>
              </a:rPr>
              <a:t> </a:t>
            </a:r>
            <a:r>
              <a:rPr lang="zh-CN" altLang="en-US" sz="1400" b="1" i="0" dirty="0">
                <a:effectLst/>
                <a:latin typeface="-apple-system"/>
              </a:rPr>
              <a:t>传递到</a:t>
            </a:r>
            <a:r>
              <a:rPr lang="en-US" altLang="zh-CN" sz="1400" b="1" i="0" dirty="0">
                <a:effectLst/>
                <a:latin typeface="-apple-system"/>
              </a:rPr>
              <a:t>c</a:t>
            </a:r>
            <a:r>
              <a:rPr lang="zh-CN" altLang="en-US" sz="1400" b="1" i="0" dirty="0">
                <a:effectLst/>
                <a:latin typeface="-apple-system"/>
              </a:rPr>
              <a:t>层下面去，然后在</a:t>
            </a:r>
            <a:r>
              <a:rPr lang="en-US" altLang="zh-CN" sz="1400" b="1" i="0" dirty="0">
                <a:effectLst/>
                <a:latin typeface="-apple-system"/>
              </a:rPr>
              <a:t>c</a:t>
            </a:r>
            <a:r>
              <a:rPr lang="zh-CN" altLang="en-US" sz="1400" b="1" i="0" dirty="0">
                <a:effectLst/>
                <a:latin typeface="-apple-system"/>
              </a:rPr>
              <a:t>层里面进行回调</a:t>
            </a:r>
            <a:endParaRPr lang="en-US" sz="14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44FCCA0-939F-207C-8E09-A0993A606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5201" y="1020290"/>
            <a:ext cx="3587886" cy="1457343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sayHelloCallback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new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ISayHelloListener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() {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BBB529"/>
                </a:solidFill>
                <a:effectLst/>
                <a:latin typeface="Arial Unicode MS"/>
                <a:ea typeface="JetBrains Mono"/>
              </a:rPr>
              <a:t>@Override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BBB529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BBB529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public void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FFC66D"/>
                </a:solidFill>
                <a:effectLst/>
                <a:latin typeface="Arial Unicode MS"/>
                <a:ea typeface="JetBrains Mono"/>
              </a:rPr>
              <a:t>onSayHelloBack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(String response) {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Log.</a:t>
            </a:r>
            <a:r>
              <a:rPr kumimoji="0" lang="en-US" altLang="en-US" sz="1050" b="0" i="1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i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  <a:ea typeface="JetBrains Mono"/>
              </a:rPr>
              <a:t>"JNI2AKI-JAVA"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,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response)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}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})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050" dirty="0">
                <a:solidFill>
                  <a:srgbClr val="CC7832"/>
                </a:solidFill>
                <a:latin typeface="Arial" panose="020B0604020202020204" pitchFamily="34" charset="0"/>
              </a:rPr>
              <a:t>…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671321A-04AF-DA68-8505-E7EAEF4A3C9E}"/>
              </a:ext>
            </a:extLst>
          </p:cNvPr>
          <p:cNvSpPr txBox="1"/>
          <p:nvPr/>
        </p:nvSpPr>
        <p:spPr>
          <a:xfrm>
            <a:off x="10309143" y="4698534"/>
            <a:ext cx="1828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-apple-system"/>
              </a:rPr>
              <a:t>JVM and multithread involved</a:t>
            </a:r>
          </a:p>
          <a:p>
            <a:pPr algn="ctr"/>
            <a:r>
              <a:rPr lang="en-US" sz="1400" b="1" dirty="0">
                <a:latin typeface="-apple-system"/>
              </a:rPr>
              <a:t>Code not available yet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92656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3DC25D-DB16-EB1B-0BB0-A6F45E3DD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Scenario – reflection</a:t>
            </a:r>
            <a:endParaRPr lang="en-US" dirty="0"/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656B62EA-2EAC-2B75-DDE8-2307EE2F7022}"/>
              </a:ext>
            </a:extLst>
          </p:cNvPr>
          <p:cNvSpPr txBox="1"/>
          <p:nvPr/>
        </p:nvSpPr>
        <p:spPr>
          <a:xfrm>
            <a:off x="2288807" y="1207828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java</a:t>
            </a:r>
            <a:endParaRPr lang="en-CA" dirty="0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BAB9169B-31F1-789C-B0C8-34751E30E355}"/>
              </a:ext>
            </a:extLst>
          </p:cNvPr>
          <p:cNvSpPr txBox="1"/>
          <p:nvPr/>
        </p:nvSpPr>
        <p:spPr>
          <a:xfrm>
            <a:off x="2327279" y="2978544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JNI</a:t>
            </a:r>
            <a:endParaRPr lang="en-CA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1A5FD6CE-4926-09F3-581C-1C7DA3F59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183" y="1600644"/>
            <a:ext cx="3927107" cy="131932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45720" rIns="91440" bIns="0" numCol="1" anchor="ctr" anchorCtr="0" compatLnSpc="1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CA" altLang="en-US" sz="13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package </a:t>
            </a:r>
            <a:r>
              <a:rPr kumimoji="0" lang="en-CA" altLang="en-US" sz="13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com.example.jnidemo</a:t>
            </a:r>
            <a:r>
              <a:rPr kumimoji="0" lang="en-CA" altLang="en-US" sz="13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;</a:t>
            </a:r>
            <a:br>
              <a:rPr kumimoji="0" lang="en-CA" altLang="en-US" sz="13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</a:br>
            <a:br>
              <a:rPr kumimoji="0" lang="en-CA" altLang="en-US" sz="13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</a:br>
            <a:r>
              <a:rPr kumimoji="0" lang="en-CA" altLang="en-US" sz="13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public class </a:t>
            </a:r>
            <a:r>
              <a:rPr kumimoji="0" lang="en-CA" altLang="en-US" sz="13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Hello 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300" dirty="0">
                <a:solidFill>
                  <a:srgbClr val="CC7832"/>
                </a:solidFill>
                <a:latin typeface="Arial Unicode MS"/>
                <a:ea typeface="JetBrains Mono"/>
              </a:rPr>
              <a:t>    public </a:t>
            </a:r>
            <a:r>
              <a:rPr lang="en-US" altLang="en-US" sz="1300" dirty="0">
                <a:solidFill>
                  <a:srgbClr val="A9B7C6"/>
                </a:solidFill>
                <a:latin typeface="Arial Unicode MS"/>
                <a:ea typeface="JetBrains Mono"/>
              </a:rPr>
              <a:t>String </a:t>
            </a:r>
            <a:r>
              <a:rPr lang="en-US" altLang="en-US" sz="1300" dirty="0">
                <a:solidFill>
                  <a:srgbClr val="9876AA"/>
                </a:solidFill>
                <a:latin typeface="Arial Unicode MS"/>
                <a:ea typeface="JetBrains Mono"/>
              </a:rPr>
              <a:t>password </a:t>
            </a:r>
            <a:r>
              <a:rPr lang="en-US" altLang="en-US" sz="1300" dirty="0">
                <a:solidFill>
                  <a:srgbClr val="A9B7C6"/>
                </a:solidFill>
                <a:latin typeface="Arial Unicode MS"/>
                <a:ea typeface="JetBrains Mono"/>
              </a:rPr>
              <a:t>= </a:t>
            </a:r>
            <a:r>
              <a:rPr lang="en-US" altLang="en-US" sz="1300" dirty="0">
                <a:solidFill>
                  <a:srgbClr val="6A8759"/>
                </a:solidFill>
                <a:latin typeface="Arial Unicode MS"/>
                <a:ea typeface="JetBrains Mono"/>
              </a:rPr>
              <a:t>"</a:t>
            </a:r>
            <a:r>
              <a:rPr lang="en-US" altLang="en-US" sz="1300" dirty="0" err="1">
                <a:solidFill>
                  <a:srgbClr val="6A8759"/>
                </a:solidFill>
                <a:latin typeface="Arial Unicode MS"/>
                <a:ea typeface="JetBrains Mono"/>
              </a:rPr>
              <a:t>oldpass</a:t>
            </a:r>
            <a:r>
              <a:rPr lang="en-US" altLang="zh-CN" sz="1300" dirty="0" err="1">
                <a:solidFill>
                  <a:srgbClr val="6A8759"/>
                </a:solidFill>
                <a:latin typeface="Arial Unicode MS"/>
                <a:ea typeface="JetBrains Mono"/>
              </a:rPr>
              <a:t>word</a:t>
            </a:r>
            <a:r>
              <a:rPr lang="en-US" altLang="en-US" sz="1300" dirty="0">
                <a:solidFill>
                  <a:srgbClr val="6A8759"/>
                </a:solidFill>
                <a:latin typeface="Arial Unicode MS"/>
                <a:ea typeface="JetBrains Mono"/>
              </a:rPr>
              <a:t>"</a:t>
            </a:r>
            <a:r>
              <a:rPr lang="en-US" altLang="en-US" sz="1300" dirty="0">
                <a:solidFill>
                  <a:srgbClr val="CC7832"/>
                </a:solidFill>
                <a:latin typeface="Arial Unicode MS"/>
                <a:ea typeface="JetBrains Mono"/>
              </a:rPr>
              <a:t>;</a:t>
            </a:r>
            <a:br>
              <a:rPr lang="en-US" altLang="en-US" sz="1300" dirty="0">
                <a:solidFill>
                  <a:srgbClr val="CC7832"/>
                </a:solidFill>
                <a:latin typeface="Arial Unicode MS"/>
                <a:ea typeface="JetBrains Mono"/>
              </a:rPr>
            </a:br>
            <a:r>
              <a:rPr lang="en-US" altLang="en-US" sz="1300" dirty="0">
                <a:solidFill>
                  <a:srgbClr val="CC7832"/>
                </a:solidFill>
                <a:latin typeface="Arial Unicode MS"/>
                <a:ea typeface="JetBrains Mono"/>
              </a:rPr>
              <a:t>    public native void </a:t>
            </a:r>
            <a:r>
              <a:rPr lang="en-US" altLang="en-US" sz="1300" dirty="0" err="1">
                <a:solidFill>
                  <a:srgbClr val="FFC66D"/>
                </a:solidFill>
                <a:latin typeface="Arial Unicode MS"/>
                <a:ea typeface="JetBrains Mono"/>
              </a:rPr>
              <a:t>changePassword</a:t>
            </a:r>
            <a:r>
              <a:rPr lang="en-US" altLang="en-US" sz="1300" dirty="0">
                <a:solidFill>
                  <a:srgbClr val="A9B7C6"/>
                </a:solidFill>
                <a:latin typeface="Arial Unicode MS"/>
                <a:ea typeface="JetBrains Mono"/>
              </a:rPr>
              <a:t>()</a:t>
            </a:r>
            <a:r>
              <a:rPr lang="en-US" altLang="en-US" sz="1300" dirty="0">
                <a:solidFill>
                  <a:srgbClr val="CC7832"/>
                </a:solidFill>
                <a:latin typeface="Arial Unicode MS"/>
                <a:ea typeface="JetBrains Mono"/>
              </a:rPr>
              <a:t>;</a:t>
            </a:r>
            <a:br>
              <a:rPr kumimoji="0" lang="en-CA" altLang="en-US" sz="13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</a:br>
            <a:r>
              <a:rPr kumimoji="0" lang="en-CA" altLang="en-US" sz="13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}</a:t>
            </a:r>
            <a:r>
              <a:rPr kumimoji="0" lang="en-CA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CA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58692140-7035-ED63-1981-8BA6B1B09C25}"/>
              </a:ext>
            </a:extLst>
          </p:cNvPr>
          <p:cNvSpPr txBox="1"/>
          <p:nvPr/>
        </p:nvSpPr>
        <p:spPr>
          <a:xfrm>
            <a:off x="6751868" y="1084875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d.ts</a:t>
            </a:r>
            <a:endParaRPr lang="en-CA" dirty="0"/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D5AA591A-C0DA-D6D4-9B04-5807AD09272D}"/>
              </a:ext>
            </a:extLst>
          </p:cNvPr>
          <p:cNvSpPr txBox="1"/>
          <p:nvPr/>
        </p:nvSpPr>
        <p:spPr>
          <a:xfrm>
            <a:off x="8094784" y="2934124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aki</a:t>
            </a:r>
            <a:endParaRPr lang="en-CA" dirty="0"/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D149502F-1561-D872-E9F8-284A7746CDC8}"/>
              </a:ext>
            </a:extLst>
          </p:cNvPr>
          <p:cNvSpPr/>
          <p:nvPr/>
        </p:nvSpPr>
        <p:spPr bwMode="auto">
          <a:xfrm>
            <a:off x="488457" y="1234786"/>
            <a:ext cx="4208559" cy="459981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9200" tIns="39600" rIns="79200" bIns="39600" numCol="1" rtlCol="0" anchor="t" anchorCtr="0" compatLnSpc="1">
            <a:noAutofit/>
          </a:bodyPr>
          <a:lstStyle/>
          <a:p>
            <a:pPr marL="0" marR="0" indent="0" algn="l" defTabSz="8020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CA" sz="1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6" name="Rectangle 14">
            <a:extLst>
              <a:ext uri="{FF2B5EF4-FFF2-40B4-BE49-F238E27FC236}">
                <a16:creationId xmlns:a16="http://schemas.microsoft.com/office/drawing/2014/main" id="{A1AF32F0-179B-8210-2234-6C16C4573DB0}"/>
              </a:ext>
            </a:extLst>
          </p:cNvPr>
          <p:cNvSpPr/>
          <p:nvPr/>
        </p:nvSpPr>
        <p:spPr bwMode="auto">
          <a:xfrm>
            <a:off x="5638823" y="1161774"/>
            <a:ext cx="6149922" cy="467282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9200" tIns="39600" rIns="79200" bIns="39600" numCol="1" rtlCol="0" anchor="t" anchorCtr="0" compatLnSpc="1">
            <a:noAutofit/>
          </a:bodyPr>
          <a:lstStyle/>
          <a:p>
            <a:pPr marL="0" marR="0" indent="0" algn="l" defTabSz="8020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CA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7" name="Right Arrow 15">
            <a:extLst>
              <a:ext uri="{FF2B5EF4-FFF2-40B4-BE49-F238E27FC236}">
                <a16:creationId xmlns:a16="http://schemas.microsoft.com/office/drawing/2014/main" id="{D274732E-143C-CDD8-28F5-BEF733B6651A}"/>
              </a:ext>
            </a:extLst>
          </p:cNvPr>
          <p:cNvSpPr/>
          <p:nvPr/>
        </p:nvSpPr>
        <p:spPr bwMode="auto">
          <a:xfrm>
            <a:off x="4880193" y="3294817"/>
            <a:ext cx="575453" cy="523550"/>
          </a:xfrm>
          <a:prstGeom prst="right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9200" tIns="39600" rIns="79200" bIns="39600" numCol="1" rtlCol="0" anchor="t" anchorCtr="0" compatLnSpc="1">
            <a:noAutofit/>
          </a:bodyPr>
          <a:lstStyle/>
          <a:p>
            <a:pPr marL="0" marR="0" indent="0" algn="l" defTabSz="8020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CA" sz="1400" b="0" i="0" u="none" strike="noStrike" cap="none" normalizeH="0" baseline="0">
              <a:ln>
                <a:noFill/>
              </a:ln>
              <a:noFill/>
              <a:effectLst/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5" name="Rectangle 1">
            <a:extLst>
              <a:ext uri="{FF2B5EF4-FFF2-40B4-BE49-F238E27FC236}">
                <a16:creationId xmlns:a16="http://schemas.microsoft.com/office/drawing/2014/main" id="{CEB71435-8A16-D40B-1476-7F2A2323F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4416" y="3163209"/>
            <a:ext cx="5954553" cy="2625341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void </a:t>
            </a:r>
            <a:r>
              <a:rPr lang="en-US" altLang="en-US" sz="1200" dirty="0" err="1">
                <a:solidFill>
                  <a:srgbClr val="FFC66D"/>
                </a:solidFill>
                <a:latin typeface="Arial Unicode MS"/>
                <a:ea typeface="JetBrains Mono"/>
              </a:rPr>
              <a:t>changePassword</a:t>
            </a: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() {</a:t>
            </a:r>
            <a:b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</a:b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    </a:t>
            </a:r>
            <a:r>
              <a:rPr lang="en-US" altLang="en-US" sz="1200" dirty="0">
                <a:solidFill>
                  <a:srgbClr val="CC7832"/>
                </a:solidFill>
                <a:latin typeface="Arial Unicode MS"/>
                <a:ea typeface="JetBrains Mono"/>
              </a:rPr>
              <a:t>auto </a:t>
            </a: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method = </a:t>
            </a:r>
            <a:r>
              <a:rPr lang="en-US" altLang="en-US" sz="1200" dirty="0" err="1">
                <a:solidFill>
                  <a:srgbClr val="A9B7C6"/>
                </a:solidFill>
                <a:latin typeface="Arial Unicode MS"/>
                <a:ea typeface="JetBrains Mono"/>
              </a:rPr>
              <a:t>aki</a:t>
            </a: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::</a:t>
            </a:r>
            <a:r>
              <a:rPr lang="en-US" altLang="en-US" sz="1200" dirty="0" err="1">
                <a:solidFill>
                  <a:srgbClr val="A9B7C6"/>
                </a:solidFill>
                <a:latin typeface="Arial Unicode MS"/>
                <a:ea typeface="JetBrains Mono"/>
              </a:rPr>
              <a:t>JSBind</a:t>
            </a: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::</a:t>
            </a:r>
            <a:r>
              <a:rPr lang="en-US" altLang="en-US" sz="1200" dirty="0" err="1">
                <a:solidFill>
                  <a:srgbClr val="FFC66D"/>
                </a:solidFill>
                <a:latin typeface="Arial Unicode MS"/>
                <a:ea typeface="JetBrains Mono"/>
              </a:rPr>
              <a:t>GetJSFunction</a:t>
            </a: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(</a:t>
            </a:r>
            <a:r>
              <a:rPr lang="en-US" altLang="en-US" sz="1200" dirty="0">
                <a:solidFill>
                  <a:srgbClr val="6A8759"/>
                </a:solidFill>
                <a:latin typeface="Arial Unicode MS"/>
                <a:ea typeface="JetBrains Mono"/>
              </a:rPr>
              <a:t>"password_jni2aki"</a:t>
            </a: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)</a:t>
            </a:r>
            <a:r>
              <a:rPr lang="en-US" altLang="en-US" sz="1200" dirty="0">
                <a:solidFill>
                  <a:srgbClr val="CC7832"/>
                </a:solidFill>
                <a:latin typeface="Arial Unicode MS"/>
                <a:ea typeface="JetBrains Mono"/>
              </a:rPr>
              <a:t>;</a:t>
            </a:r>
            <a:br>
              <a:rPr lang="en-US" altLang="en-US" sz="1200" dirty="0">
                <a:solidFill>
                  <a:srgbClr val="CC7832"/>
                </a:solidFill>
                <a:latin typeface="Arial Unicode MS"/>
                <a:ea typeface="JetBrains Mono"/>
              </a:rPr>
            </a:br>
            <a:r>
              <a:rPr lang="en-US" altLang="en-US" sz="1200" dirty="0">
                <a:solidFill>
                  <a:srgbClr val="CC7832"/>
                </a:solidFill>
                <a:latin typeface="Arial Unicode MS"/>
                <a:ea typeface="JetBrains Mono"/>
              </a:rPr>
              <a:t>    auto </a:t>
            </a:r>
            <a:r>
              <a:rPr lang="en-US" altLang="en-US" sz="1200" dirty="0" err="1">
                <a:solidFill>
                  <a:srgbClr val="A9B7C6"/>
                </a:solidFill>
                <a:latin typeface="Arial Unicode MS"/>
                <a:ea typeface="JetBrains Mono"/>
              </a:rPr>
              <a:t>newPass</a:t>
            </a: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 = method-&gt;</a:t>
            </a:r>
            <a:r>
              <a:rPr lang="en-US" altLang="en-US" sz="1200" dirty="0">
                <a:solidFill>
                  <a:srgbClr val="FFC66D"/>
                </a:solidFill>
                <a:latin typeface="Arial Unicode MS"/>
                <a:ea typeface="JetBrains Mono"/>
              </a:rPr>
              <a:t>Invoke</a:t>
            </a: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&lt;</a:t>
            </a:r>
            <a:r>
              <a:rPr lang="en-US" altLang="en-US" sz="1200" dirty="0">
                <a:solidFill>
                  <a:srgbClr val="CC7832"/>
                </a:solidFill>
                <a:latin typeface="Arial Unicode MS"/>
                <a:ea typeface="JetBrains Mono"/>
              </a:rPr>
              <a:t>char </a:t>
            </a: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*&gt;()</a:t>
            </a:r>
            <a:r>
              <a:rPr lang="en-US" altLang="en-US" sz="1200" dirty="0">
                <a:solidFill>
                  <a:srgbClr val="CC7832"/>
                </a:solidFill>
                <a:latin typeface="Arial Unicode MS"/>
                <a:ea typeface="JetBrains Mono"/>
              </a:rPr>
              <a:t>;</a:t>
            </a:r>
            <a:br>
              <a:rPr lang="en-US" altLang="en-US" sz="1200" dirty="0">
                <a:solidFill>
                  <a:srgbClr val="CC7832"/>
                </a:solidFill>
                <a:latin typeface="Arial Unicode MS"/>
                <a:ea typeface="JetBrains Mono"/>
              </a:rPr>
            </a:br>
            <a:r>
              <a:rPr lang="en-US" altLang="en-US" sz="1200" dirty="0">
                <a:solidFill>
                  <a:srgbClr val="CC7832"/>
                </a:solidFill>
                <a:latin typeface="Arial Unicode MS"/>
                <a:ea typeface="JetBrains Mono"/>
              </a:rPr>
              <a:t>    return  </a:t>
            </a:r>
            <a:r>
              <a:rPr lang="en-US" altLang="en-US" sz="1200" dirty="0" err="1">
                <a:solidFill>
                  <a:srgbClr val="A9B7C6"/>
                </a:solidFill>
                <a:latin typeface="Arial Unicode MS"/>
                <a:ea typeface="JetBrains Mono"/>
              </a:rPr>
              <a:t>newPass</a:t>
            </a:r>
            <a:r>
              <a:rPr lang="en-US" altLang="en-US" sz="1200" dirty="0">
                <a:solidFill>
                  <a:srgbClr val="CC7832"/>
                </a:solidFill>
                <a:latin typeface="Arial Unicode MS"/>
                <a:ea typeface="JetBrains Mono"/>
              </a:rPr>
              <a:t>;</a:t>
            </a:r>
            <a:endParaRPr lang="en-US" altLang="en-US" sz="1200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}</a:t>
            </a:r>
            <a:endParaRPr lang="en-US" altLang="en-US" sz="2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BB529"/>
                </a:solidFill>
                <a:effectLst/>
                <a:latin typeface="Arial Unicode MS"/>
                <a:ea typeface="JetBrains Mono"/>
              </a:rPr>
              <a:t>JSBIND_GLOBAL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BB529"/>
                </a:solidFill>
                <a:effectLst/>
                <a:latin typeface="Arial Unicode MS"/>
                <a:ea typeface="JetBrains Mono"/>
              </a:rPr>
              <a:t>JSBIND_FUNCTION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FFC66D"/>
                </a:solidFill>
                <a:effectLst/>
                <a:latin typeface="Arial Unicode MS"/>
                <a:ea typeface="JetBrains Mono"/>
              </a:rPr>
              <a:t>changePassword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BB529"/>
                </a:solidFill>
                <a:effectLst/>
                <a:latin typeface="Arial Unicode MS"/>
                <a:ea typeface="JetBrains Mono"/>
              </a:rPr>
              <a:t>JSBIND_ADDON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(entry)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Rectangle 1">
            <a:extLst>
              <a:ext uri="{FF2B5EF4-FFF2-40B4-BE49-F238E27FC236}">
                <a16:creationId xmlns:a16="http://schemas.microsoft.com/office/drawing/2014/main" id="{3A3AEEA5-8C84-F455-40C7-C2CDDFE283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4416" y="1568749"/>
            <a:ext cx="2595800" cy="1319321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export const </a:t>
            </a:r>
            <a:r>
              <a:rPr lang="en-US" altLang="en-US" sz="1200" dirty="0" err="1">
                <a:solidFill>
                  <a:schemeClr val="bg1"/>
                </a:solidFill>
                <a:latin typeface="Arial Unicode MS"/>
                <a:ea typeface="JetBrains Mono"/>
              </a:rPr>
              <a:t>changePassword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DB7E9B"/>
                </a:solidFill>
                <a:effectLst/>
                <a:latin typeface="Arial Unicode MS"/>
                <a:ea typeface="JetBrains Mono"/>
              </a:rPr>
              <a:t>() 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=&gt; 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string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167390C-039F-2EFC-8B26-B4EFA581D00C}"/>
              </a:ext>
            </a:extLst>
          </p:cNvPr>
          <p:cNvSpPr txBox="1"/>
          <p:nvPr/>
        </p:nvSpPr>
        <p:spPr>
          <a:xfrm>
            <a:off x="624013" y="3294817"/>
            <a:ext cx="3937446" cy="249373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/>
          <a:p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extern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  <a:ea typeface="JetBrains Mono"/>
              </a:rPr>
              <a:t>"C"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908B25"/>
                </a:solidFill>
                <a:effectLst/>
                <a:latin typeface="Arial Unicode MS"/>
                <a:ea typeface="JetBrains Mono"/>
              </a:rPr>
              <a:t>JNIEXPORT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void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908B25"/>
                </a:solidFill>
                <a:effectLst/>
                <a:latin typeface="Arial Unicode MS"/>
                <a:ea typeface="JetBrains Mono"/>
              </a:rPr>
              <a:t>JNICALL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908B25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FFC66D"/>
                </a:solidFill>
                <a:effectLst/>
                <a:latin typeface="Arial Unicode MS"/>
                <a:ea typeface="JetBrains Mono"/>
              </a:rPr>
              <a:t>Java_com_example_jnidemo_Hello_changePassword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JNIEnv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*env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jobject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thiz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jclass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jc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 = env-&gt;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GetObjectClass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thiz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jfieldID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jf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 = env-&gt;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GetFieldID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jc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  <a:ea typeface="JetBrains Mono"/>
              </a:rPr>
              <a:t>"password"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  <a:ea typeface="JetBrains Mono"/>
              </a:rPr>
              <a:t>"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  <a:ea typeface="JetBrains Mono"/>
              </a:rPr>
              <a:t>Ljava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  <a:ea typeface="JetBrains Mono"/>
              </a:rPr>
              <a:t>/lang/String;"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jstring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value = env-&gt;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NewStringUTF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  <a:ea typeface="JetBrains Mono"/>
              </a:rPr>
              <a:t>"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  <a:ea typeface="JetBrains Mono"/>
              </a:rPr>
              <a:t>newpassword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  <a:ea typeface="JetBrains Mono"/>
              </a:rPr>
              <a:t>"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env-&gt;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SetObjectField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thiz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jf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value)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D0814410-117E-A04D-80EB-6B861E934E23}"/>
              </a:ext>
            </a:extLst>
          </p:cNvPr>
          <p:cNvSpPr txBox="1"/>
          <p:nvPr/>
        </p:nvSpPr>
        <p:spPr>
          <a:xfrm>
            <a:off x="9652567" y="1084875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ets</a:t>
            </a:r>
            <a:endParaRPr lang="en-CA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00B22D3A-0C6C-0E02-18E4-6400EA0A1E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5809" y="1385447"/>
            <a:ext cx="3114860" cy="150262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function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65CCE1"/>
                </a:solidFill>
                <a:effectLst/>
                <a:latin typeface="Arial Unicode MS"/>
                <a:ea typeface="JetBrains Mono"/>
              </a:rPr>
              <a:t>password_jni2aki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DB7E9B"/>
                </a:solidFill>
                <a:effectLst/>
                <a:latin typeface="Arial Unicode MS"/>
                <a:ea typeface="JetBrains Mono"/>
              </a:rPr>
              <a:t>()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string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FAA23D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FAA23D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FAA23D"/>
                </a:solidFill>
                <a:effectLst/>
                <a:latin typeface="Arial Unicode MS"/>
                <a:ea typeface="JetBrains Mono"/>
              </a:rPr>
              <a:t>  </a:t>
            </a: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return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AA7DFC"/>
                </a:solidFill>
                <a:effectLst/>
                <a:latin typeface="Arial Unicode MS"/>
                <a:ea typeface="JetBrains Mono"/>
              </a:rPr>
              <a:t>“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AA7DFC"/>
                </a:solidFill>
                <a:effectLst/>
                <a:latin typeface="Arial Unicode MS"/>
                <a:ea typeface="JetBrains Mono"/>
              </a:rPr>
              <a:t>oldpassword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AA7DFC"/>
                </a:solidFill>
                <a:effectLst/>
                <a:latin typeface="Arial Unicode MS"/>
                <a:ea typeface="JetBrains Mono"/>
              </a:rPr>
              <a:t>"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FAA23D"/>
                </a:solidFill>
                <a:effectLst/>
                <a:latin typeface="Arial Unicode MS"/>
                <a:ea typeface="JetBrains Mono"/>
              </a:rPr>
              <a:t>}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FAA23D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Arial Unicode MS"/>
                <a:ea typeface="JetBrains Mono"/>
              </a:rPr>
              <a:t>// @ts-ignore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  <a:ea typeface="JetBrains Mono"/>
              </a:rPr>
              <a:t>testAki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  <a:ea typeface="JetBrains Mono"/>
              </a:rPr>
              <a:t>JSBind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65CCE1"/>
                </a:solidFill>
                <a:effectLst/>
                <a:latin typeface="Arial Unicode MS"/>
                <a:ea typeface="JetBrains Mono"/>
              </a:rPr>
              <a:t>bindFunction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DB7E9B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AA7DFC"/>
                </a:solidFill>
                <a:effectLst/>
                <a:latin typeface="Arial Unicode MS"/>
                <a:ea typeface="JetBrains Mono"/>
              </a:rPr>
              <a:t>"password_jni2aki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AA7DFC"/>
                </a:solidFill>
                <a:effectLst/>
                <a:latin typeface="Arial Unicode MS"/>
                <a:ea typeface="JetBrains Mono"/>
              </a:rPr>
              <a:t>"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,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  <a:ea typeface="JetBrains Mono"/>
              </a:rPr>
              <a:t> password_jni2aki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DB7E9B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050" dirty="0">
                <a:solidFill>
                  <a:srgbClr val="E2DA90"/>
                </a:solidFill>
                <a:latin typeface="Arial" panose="020B0604020202020204" pitchFamily="34" charset="0"/>
              </a:rPr>
              <a:t>…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FFFFFF"/>
                </a:solidFill>
                <a:latin typeface="Arial Unicode MS"/>
                <a:ea typeface="JetBrains Mono"/>
              </a:rPr>
              <a:t>password </a:t>
            </a:r>
            <a:r>
              <a:rPr lang="en-US" altLang="en-US" sz="1200" dirty="0">
                <a:solidFill>
                  <a:srgbClr val="E2DA90"/>
                </a:solidFill>
                <a:latin typeface="Arial Unicode MS"/>
                <a:ea typeface="JetBrains Mono"/>
              </a:rPr>
              <a:t>= </a:t>
            </a:r>
            <a:r>
              <a:rPr lang="en-US" altLang="en-US" sz="1200" dirty="0" err="1">
                <a:solidFill>
                  <a:srgbClr val="FFFFFF"/>
                </a:solidFill>
                <a:latin typeface="Arial Unicode MS"/>
                <a:ea typeface="JetBrains Mono"/>
              </a:rPr>
              <a:t>testAki</a:t>
            </a:r>
            <a:r>
              <a:rPr lang="en-US" altLang="en-US" sz="1200" dirty="0" err="1">
                <a:solidFill>
                  <a:srgbClr val="E2DA90"/>
                </a:solidFill>
                <a:latin typeface="Arial Unicode MS"/>
                <a:ea typeface="JetBrains Mono"/>
              </a:rPr>
              <a:t>.</a:t>
            </a:r>
            <a:r>
              <a:rPr lang="en-US" altLang="en-US" sz="1200" dirty="0" err="1">
                <a:solidFill>
                  <a:srgbClr val="65CCE1"/>
                </a:solidFill>
                <a:latin typeface="Arial Unicode MS"/>
                <a:ea typeface="JetBrains Mono"/>
              </a:rPr>
              <a:t>changePassword</a:t>
            </a:r>
            <a:r>
              <a:rPr lang="en-US" altLang="en-US" sz="1200" dirty="0">
                <a:solidFill>
                  <a:srgbClr val="DB7E9B"/>
                </a:solidFill>
                <a:latin typeface="Arial Unicode MS"/>
                <a:ea typeface="JetBrains Mono"/>
              </a:rPr>
              <a:t>()</a:t>
            </a:r>
            <a:r>
              <a:rPr lang="en-US" altLang="en-US" sz="1200" dirty="0">
                <a:solidFill>
                  <a:srgbClr val="E2DA90"/>
                </a:solidFill>
                <a:latin typeface="Arial Unicode MS"/>
                <a:ea typeface="JetBrains Mono"/>
              </a:rPr>
              <a:t>;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3D914558-A1B9-5E6C-D7CC-6EF44E10D1B8}"/>
              </a:ext>
            </a:extLst>
          </p:cNvPr>
          <p:cNvSpPr/>
          <p:nvPr/>
        </p:nvSpPr>
        <p:spPr bwMode="auto">
          <a:xfrm>
            <a:off x="9578733" y="1379612"/>
            <a:ext cx="492443" cy="521920"/>
          </a:xfrm>
          <a:prstGeom prst="ellipse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79200" tIns="39600" rIns="79200" bIns="39600" numCol="1" rtlCol="0" anchor="t" anchorCtr="0" compatLnSpc="1">
            <a:spAutoFit/>
          </a:bodyPr>
          <a:lstStyle/>
          <a:p>
            <a:pPr marL="0" marR="0" indent="0" algn="l" defTabSz="8020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74F5E941-B26A-292B-31FC-824C8CFEA859}"/>
              </a:ext>
            </a:extLst>
          </p:cNvPr>
          <p:cNvSpPr/>
          <p:nvPr/>
        </p:nvSpPr>
        <p:spPr bwMode="auto">
          <a:xfrm>
            <a:off x="8240021" y="2480692"/>
            <a:ext cx="2915848" cy="521920"/>
          </a:xfrm>
          <a:prstGeom prst="ellipse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79200" tIns="39600" rIns="79200" bIns="39600" numCol="1" rtlCol="0" anchor="t" anchorCtr="0" compatLnSpc="1">
            <a:spAutoFit/>
          </a:bodyPr>
          <a:lstStyle/>
          <a:p>
            <a:pPr marL="0" marR="0" indent="0" algn="l" defTabSz="8020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8119D62-9751-B205-6D0E-F3C3EBE2DAD0}"/>
              </a:ext>
            </a:extLst>
          </p:cNvPr>
          <p:cNvSpPr txBox="1"/>
          <p:nvPr/>
        </p:nvSpPr>
        <p:spPr>
          <a:xfrm>
            <a:off x="2288807" y="5886755"/>
            <a:ext cx="7314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因为</a:t>
            </a:r>
            <a:r>
              <a:rPr lang="en-US" altLang="zh-CN" sz="1400" dirty="0" err="1"/>
              <a:t>aki</a:t>
            </a:r>
            <a:r>
              <a:rPr lang="zh-CN" altLang="en-US" sz="1400" dirty="0"/>
              <a:t>不支持反射，并且暂时不支持绑定</a:t>
            </a:r>
            <a:r>
              <a:rPr lang="en-US" altLang="zh-CN" sz="1400" dirty="0"/>
              <a:t>field</a:t>
            </a:r>
            <a:r>
              <a:rPr lang="zh-CN" altLang="en-US" sz="1400" dirty="0"/>
              <a:t>，本方法为</a:t>
            </a:r>
            <a:r>
              <a:rPr lang="en-US" altLang="zh-CN" sz="1400" dirty="0"/>
              <a:t>tricky</a:t>
            </a:r>
            <a:r>
              <a:rPr lang="zh-CN" altLang="en-US" sz="1400" dirty="0"/>
              <a:t>实现（暂未考虑如何转换）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85905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C7FE69-9424-E97A-3C56-751022804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>
                <a:solidFill>
                  <a:srgbClr val="000000"/>
                </a:solidFill>
              </a:rPr>
              <a:t>Page </a:t>
            </a:r>
            <a:fld id="{3AE68313-F76E-48D3-9063-068DC072EBF0}" type="slidenum">
              <a:rPr lang="de-DE" smtClean="0">
                <a:solidFill>
                  <a:srgbClr val="000000"/>
                </a:solidFill>
              </a:rPr>
              <a:t>7</a:t>
            </a:fld>
            <a:endParaRPr lang="en-GB">
              <a:solidFill>
                <a:srgbClr val="0000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870C3AD-52BF-1C49-E1B4-25B88054F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489" y="190989"/>
            <a:ext cx="8641975" cy="5993059"/>
          </a:xfrm>
          <a:prstGeom prst="rect">
            <a:avLst/>
          </a:prstGeom>
        </p:spPr>
      </p:pic>
      <p:sp>
        <p:nvSpPr>
          <p:cNvPr id="3" name="椭圆 2">
            <a:extLst>
              <a:ext uri="{FF2B5EF4-FFF2-40B4-BE49-F238E27FC236}">
                <a16:creationId xmlns:a16="http://schemas.microsoft.com/office/drawing/2014/main" id="{5681AC7F-090A-643B-5B00-174E5F9AFB14}"/>
              </a:ext>
            </a:extLst>
          </p:cNvPr>
          <p:cNvSpPr/>
          <p:nvPr/>
        </p:nvSpPr>
        <p:spPr bwMode="auto">
          <a:xfrm>
            <a:off x="3906077" y="5602734"/>
            <a:ext cx="1823830" cy="429851"/>
          </a:xfrm>
          <a:prstGeom prst="ellipse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79200" tIns="39600" rIns="79200" bIns="39600" numCol="1" rtlCol="0" anchor="t" anchorCtr="0" compatLnSpc="1">
            <a:noAutofit/>
          </a:bodyPr>
          <a:lstStyle/>
          <a:p>
            <a:pPr marL="0" marR="0" indent="0" algn="l" defTabSz="8020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114C246-94B2-8AF3-5DF2-0BC1BF2196F1}"/>
              </a:ext>
            </a:extLst>
          </p:cNvPr>
          <p:cNvSpPr txBox="1"/>
          <p:nvPr/>
        </p:nvSpPr>
        <p:spPr>
          <a:xfrm>
            <a:off x="143368" y="3819623"/>
            <a:ext cx="163995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未来若支持，则对实现反射功能有极大帮助</a:t>
            </a:r>
            <a:endParaRPr lang="en-US" sz="1400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63D34B7-E2FC-5686-42FB-6E2D51E23BA0}"/>
              </a:ext>
            </a:extLst>
          </p:cNvPr>
          <p:cNvSpPr/>
          <p:nvPr/>
        </p:nvSpPr>
        <p:spPr bwMode="auto">
          <a:xfrm>
            <a:off x="3935894" y="4465862"/>
            <a:ext cx="1823830" cy="429851"/>
          </a:xfrm>
          <a:prstGeom prst="ellipse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79200" tIns="39600" rIns="79200" bIns="39600" numCol="1" rtlCol="0" anchor="t" anchorCtr="0" compatLnSpc="1">
            <a:noAutofit/>
          </a:bodyPr>
          <a:lstStyle/>
          <a:p>
            <a:pPr marL="0" marR="0" indent="0" algn="l" defTabSz="8020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DCD1D7B-55A0-73F0-B58D-5A6CEA9DD3D6}"/>
              </a:ext>
            </a:extLst>
          </p:cNvPr>
          <p:cNvSpPr/>
          <p:nvPr/>
        </p:nvSpPr>
        <p:spPr bwMode="auto">
          <a:xfrm>
            <a:off x="3873776" y="3391582"/>
            <a:ext cx="1823830" cy="429851"/>
          </a:xfrm>
          <a:prstGeom prst="ellipse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79200" tIns="39600" rIns="79200" bIns="39600" numCol="1" rtlCol="0" anchor="t" anchorCtr="0" compatLnSpc="1">
            <a:noAutofit/>
          </a:bodyPr>
          <a:lstStyle/>
          <a:p>
            <a:pPr marL="0" marR="0" indent="0" algn="l" defTabSz="8020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cxnSp>
        <p:nvCxnSpPr>
          <p:cNvPr id="14" name="连接符: 曲线 13">
            <a:extLst>
              <a:ext uri="{FF2B5EF4-FFF2-40B4-BE49-F238E27FC236}">
                <a16:creationId xmlns:a16="http://schemas.microsoft.com/office/drawing/2014/main" id="{E49A0B7A-677E-8D85-6087-FBCEFCA93F9F}"/>
              </a:ext>
            </a:extLst>
          </p:cNvPr>
          <p:cNvCxnSpPr>
            <a:stCxn id="12" idx="2"/>
            <a:endCxn id="8" idx="3"/>
          </p:cNvCxnSpPr>
          <p:nvPr/>
        </p:nvCxnSpPr>
        <p:spPr bwMode="auto">
          <a:xfrm rot="10800000" flipV="1">
            <a:off x="1783324" y="3606507"/>
            <a:ext cx="2090452" cy="582447"/>
          </a:xfrm>
          <a:prstGeom prst="curvedConnector3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连接符: 曲线 14">
            <a:extLst>
              <a:ext uri="{FF2B5EF4-FFF2-40B4-BE49-F238E27FC236}">
                <a16:creationId xmlns:a16="http://schemas.microsoft.com/office/drawing/2014/main" id="{91E30C0C-8222-AA2B-B02A-C537C49180DA}"/>
              </a:ext>
            </a:extLst>
          </p:cNvPr>
          <p:cNvCxnSpPr>
            <a:cxnSpLocks/>
            <a:stCxn id="3" idx="2"/>
            <a:endCxn id="8" idx="3"/>
          </p:cNvCxnSpPr>
          <p:nvPr/>
        </p:nvCxnSpPr>
        <p:spPr bwMode="auto">
          <a:xfrm rot="10800000">
            <a:off x="1783325" y="4188956"/>
            <a:ext cx="2122753" cy="1628705"/>
          </a:xfrm>
          <a:prstGeom prst="curvedConnector3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连接符: 曲线 15">
            <a:extLst>
              <a:ext uri="{FF2B5EF4-FFF2-40B4-BE49-F238E27FC236}">
                <a16:creationId xmlns:a16="http://schemas.microsoft.com/office/drawing/2014/main" id="{C37C7C85-1B9D-6AC6-BDB1-3F3D2F25A6CC}"/>
              </a:ext>
            </a:extLst>
          </p:cNvPr>
          <p:cNvCxnSpPr>
            <a:cxnSpLocks/>
            <a:stCxn id="9" idx="2"/>
            <a:endCxn id="8" idx="3"/>
          </p:cNvCxnSpPr>
          <p:nvPr/>
        </p:nvCxnSpPr>
        <p:spPr bwMode="auto">
          <a:xfrm rot="10800000">
            <a:off x="1783324" y="4188956"/>
            <a:ext cx="2152570" cy="491833"/>
          </a:xfrm>
          <a:prstGeom prst="curvedConnector3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6131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3DC25D-DB16-EB1B-0BB0-A6F45E3DD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Scenario - class</a:t>
            </a:r>
            <a:endParaRPr lang="en-US" dirty="0"/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656B62EA-2EAC-2B75-DDE8-2307EE2F7022}"/>
              </a:ext>
            </a:extLst>
          </p:cNvPr>
          <p:cNvSpPr txBox="1"/>
          <p:nvPr/>
        </p:nvSpPr>
        <p:spPr>
          <a:xfrm>
            <a:off x="2291009" y="1023997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java</a:t>
            </a:r>
            <a:endParaRPr lang="en-CA" dirty="0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BAB9169B-31F1-789C-B0C8-34751E30E355}"/>
              </a:ext>
            </a:extLst>
          </p:cNvPr>
          <p:cNvSpPr txBox="1"/>
          <p:nvPr/>
        </p:nvSpPr>
        <p:spPr>
          <a:xfrm>
            <a:off x="2329481" y="2794713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JNI</a:t>
            </a:r>
            <a:endParaRPr lang="en-CA" dirty="0"/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58692140-7035-ED63-1981-8BA6B1B09C25}"/>
              </a:ext>
            </a:extLst>
          </p:cNvPr>
          <p:cNvSpPr txBox="1"/>
          <p:nvPr/>
        </p:nvSpPr>
        <p:spPr>
          <a:xfrm>
            <a:off x="6784900" y="982673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d.ts</a:t>
            </a:r>
            <a:endParaRPr lang="en-CA" dirty="0"/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D5AA591A-C0DA-D6D4-9B04-5807AD09272D}"/>
              </a:ext>
            </a:extLst>
          </p:cNvPr>
          <p:cNvSpPr txBox="1"/>
          <p:nvPr/>
        </p:nvSpPr>
        <p:spPr>
          <a:xfrm>
            <a:off x="8526164" y="2776667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aki</a:t>
            </a:r>
            <a:endParaRPr lang="en-CA" dirty="0"/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D149502F-1561-D872-E9F8-284A7746CDC8}"/>
              </a:ext>
            </a:extLst>
          </p:cNvPr>
          <p:cNvSpPr/>
          <p:nvPr/>
        </p:nvSpPr>
        <p:spPr bwMode="auto">
          <a:xfrm>
            <a:off x="490659" y="1050955"/>
            <a:ext cx="4639800" cy="452920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9200" tIns="39600" rIns="79200" bIns="39600" numCol="1" rtlCol="0" anchor="t" anchorCtr="0" compatLnSpc="1">
            <a:noAutofit/>
          </a:bodyPr>
          <a:lstStyle/>
          <a:p>
            <a:pPr marL="0" marR="0" indent="0" algn="l" defTabSz="8020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CA" sz="1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6" name="Rectangle 14">
            <a:extLst>
              <a:ext uri="{FF2B5EF4-FFF2-40B4-BE49-F238E27FC236}">
                <a16:creationId xmlns:a16="http://schemas.microsoft.com/office/drawing/2014/main" id="{A1AF32F0-179B-8210-2234-6C16C4573DB0}"/>
              </a:ext>
            </a:extLst>
          </p:cNvPr>
          <p:cNvSpPr/>
          <p:nvPr/>
        </p:nvSpPr>
        <p:spPr bwMode="auto">
          <a:xfrm>
            <a:off x="5641025" y="977944"/>
            <a:ext cx="6149922" cy="460221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9200" tIns="39600" rIns="79200" bIns="39600" numCol="1" rtlCol="0" anchor="t" anchorCtr="0" compatLnSpc="1">
            <a:noAutofit/>
          </a:bodyPr>
          <a:lstStyle/>
          <a:p>
            <a:pPr marL="0" marR="0" indent="0" algn="l" defTabSz="8020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CA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7" name="Right Arrow 15">
            <a:extLst>
              <a:ext uri="{FF2B5EF4-FFF2-40B4-BE49-F238E27FC236}">
                <a16:creationId xmlns:a16="http://schemas.microsoft.com/office/drawing/2014/main" id="{D274732E-143C-CDD8-28F5-BEF733B6651A}"/>
              </a:ext>
            </a:extLst>
          </p:cNvPr>
          <p:cNvSpPr/>
          <p:nvPr/>
        </p:nvSpPr>
        <p:spPr bwMode="auto">
          <a:xfrm>
            <a:off x="5221238" y="2994180"/>
            <a:ext cx="324927" cy="523550"/>
          </a:xfrm>
          <a:prstGeom prst="right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9200" tIns="39600" rIns="79200" bIns="39600" numCol="1" rtlCol="0" anchor="t" anchorCtr="0" compatLnSpc="1">
            <a:noAutofit/>
          </a:bodyPr>
          <a:lstStyle/>
          <a:p>
            <a:pPr marL="0" marR="0" indent="0" algn="l" defTabSz="8020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CA" sz="1400" b="0" i="0" u="none" strike="noStrike" cap="none" normalizeH="0" baseline="0">
              <a:ln>
                <a:noFill/>
              </a:ln>
              <a:noFill/>
              <a:effectLst/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D0814410-117E-A04D-80EB-6B861E934E23}"/>
              </a:ext>
            </a:extLst>
          </p:cNvPr>
          <p:cNvSpPr txBox="1"/>
          <p:nvPr/>
        </p:nvSpPr>
        <p:spPr>
          <a:xfrm>
            <a:off x="9701417" y="977944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ets</a:t>
            </a:r>
            <a:endParaRPr lang="en-CA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CA58C10-0AC0-671D-8C4F-BC140F761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439" y="1374735"/>
            <a:ext cx="2395677" cy="1425911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class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Dog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public native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String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FFC66D"/>
                </a:solidFill>
                <a:effectLst/>
                <a:latin typeface="Arial Unicode MS"/>
                <a:ea typeface="JetBrains Mono"/>
              </a:rPr>
              <a:t>sayHello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; 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class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Cat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public native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String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FFC66D"/>
                </a:solidFill>
                <a:effectLst/>
                <a:latin typeface="Arial Unicode MS"/>
                <a:ea typeface="JetBrains Mono"/>
              </a:rPr>
              <a:t>sayHello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64E04DC-35A5-729E-DC57-4AF2168779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438" y="3100245"/>
            <a:ext cx="4444693" cy="238112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extern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  <a:ea typeface="JetBrains Mono"/>
              </a:rPr>
              <a:t>"C"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908B25"/>
                </a:solidFill>
                <a:effectLst/>
                <a:latin typeface="Arial Unicode MS"/>
                <a:ea typeface="JetBrains Mono"/>
              </a:rPr>
              <a:t>JNIEXPORT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jstring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908B25"/>
                </a:solidFill>
                <a:effectLst/>
                <a:latin typeface="Arial Unicode MS"/>
                <a:ea typeface="JetBrains Mono"/>
              </a:rPr>
              <a:t>JNICALL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908B25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FFC66D"/>
                </a:solidFill>
                <a:effectLst/>
                <a:latin typeface="Arial Unicode MS"/>
                <a:ea typeface="JetBrains Mono"/>
              </a:rPr>
              <a:t>Java_com_example_jni2aki_Dog_sayHello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JNIEnv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*env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jobject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thiz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5B6E3"/>
                </a:solidFill>
                <a:effectLst/>
                <a:latin typeface="Arial Unicode MS"/>
                <a:ea typeface="JetBrains Mono"/>
              </a:rPr>
              <a:t>std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::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string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hello =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  <a:ea typeface="JetBrains Mono"/>
              </a:rPr>
              <a:t>"woof"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    return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env-&gt;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NewStringUTF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hello.c_str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())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extern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  <a:ea typeface="JetBrains Mono"/>
              </a:rPr>
              <a:t>"C"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908B25"/>
                </a:solidFill>
                <a:effectLst/>
                <a:latin typeface="Arial Unicode MS"/>
                <a:ea typeface="JetBrains Mono"/>
              </a:rPr>
              <a:t>JNIEXPORT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jstring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908B25"/>
                </a:solidFill>
                <a:effectLst/>
                <a:latin typeface="Arial Unicode MS"/>
                <a:ea typeface="JetBrains Mono"/>
              </a:rPr>
              <a:t>JNICALL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908B25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FFC66D"/>
                </a:solidFill>
                <a:effectLst/>
                <a:latin typeface="Arial Unicode MS"/>
                <a:ea typeface="JetBrains Mono"/>
              </a:rPr>
              <a:t>Java_com_example_jni2aki_Cat_sayHello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JNIEnv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*env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jobject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thiz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5B6E3"/>
                </a:solidFill>
                <a:effectLst/>
                <a:latin typeface="Arial Unicode MS"/>
                <a:ea typeface="JetBrains Mono"/>
              </a:rPr>
              <a:t>std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::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string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hello =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  <a:ea typeface="JetBrains Mono"/>
              </a:rPr>
              <a:t>"meow"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    return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env-&gt;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NewStringUTF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hello.c_str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())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3C813D4A-B629-6746-85C5-93A636847E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8919" y="3297228"/>
            <a:ext cx="6012422" cy="2184139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2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class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Dog{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public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: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    Dog()=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default;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std::string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Arial Unicode MS"/>
                <a:ea typeface="JetBrains Mono"/>
              </a:rPr>
              <a:t>sayHello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(){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return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  <a:ea typeface="JetBrains Mono"/>
              </a:rPr>
              <a:t>"woof"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;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}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}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class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Cat {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public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: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    Cat()=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default;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std::string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Arial Unicode MS"/>
                <a:ea typeface="JetBrains Mono"/>
              </a:rPr>
              <a:t>sayHello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() {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return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  <a:ea typeface="JetBrains Mono"/>
              </a:rPr>
              <a:t>"cat"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;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}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}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</a:b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Arial Unicode MS"/>
                <a:ea typeface="JetBrains Mono"/>
              </a:rPr>
              <a:t>JSBIND_CLASS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(Dog) {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Arial Unicode MS"/>
                <a:ea typeface="JetBrains Mono"/>
              </a:rPr>
              <a:t>JSBIND_CONSTRUCTOR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&lt;&gt;()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Arial Unicode MS"/>
                <a:ea typeface="JetBrains Mono"/>
              </a:rPr>
              <a:t>JSBIND_METHOD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(sayHello)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;   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}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</a:b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Arial Unicode MS"/>
                <a:ea typeface="JetBrains Mono"/>
              </a:rPr>
              <a:t>JSBIND_CLASS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(Cat) {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Arial Unicode MS"/>
                <a:ea typeface="JetBrains Mono"/>
              </a:rPr>
              <a:t>JSBIND_CONSTRUCTOR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&lt;&gt;()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Arial Unicode MS"/>
                <a:ea typeface="JetBrains Mono"/>
              </a:rPr>
              <a:t>JSBIND_METHOD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(sayHello)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7904F945-B38E-DB8C-FCBE-B4CCF85F86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8919" y="1312576"/>
            <a:ext cx="2669556" cy="1437716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export class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5CCE1"/>
                </a:solidFill>
                <a:effectLst/>
                <a:latin typeface="Arial Unicode MS"/>
                <a:ea typeface="JetBrains Mono"/>
              </a:rPr>
              <a:t>Dog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AA23D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AA23D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AA23D"/>
                </a:solidFill>
                <a:effectLst/>
                <a:latin typeface="Arial Unicode MS"/>
                <a:ea typeface="JetBrains Mono"/>
              </a:rPr>
              <a:t>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  <a:ea typeface="JetBrains Mono"/>
              </a:rPr>
              <a:t>sayHello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B7E9B"/>
                </a:solidFill>
                <a:effectLst/>
                <a:latin typeface="Arial Unicode MS"/>
                <a:ea typeface="JetBrains Mono"/>
              </a:rPr>
              <a:t>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=&gt;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string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AA23D"/>
                </a:solidFill>
                <a:effectLst/>
                <a:latin typeface="Arial Unicode MS"/>
                <a:ea typeface="JetBrains Mono"/>
              </a:rPr>
              <a:t>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AA23D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export class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5CCE1"/>
                </a:solidFill>
                <a:effectLst/>
                <a:latin typeface="Arial Unicode MS"/>
                <a:ea typeface="JetBrains Mono"/>
              </a:rPr>
              <a:t>Cat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AA23D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AA23D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AA23D"/>
                </a:solidFill>
                <a:effectLst/>
                <a:latin typeface="Arial Unicode MS"/>
                <a:ea typeface="JetBrains Mono"/>
              </a:rPr>
              <a:t>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  <a:ea typeface="JetBrains Mono"/>
              </a:rPr>
              <a:t>sayHello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B7E9B"/>
                </a:solidFill>
                <a:effectLst/>
                <a:latin typeface="Arial Unicode MS"/>
                <a:ea typeface="JetBrains Mono"/>
              </a:rPr>
              <a:t>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=&gt;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string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AA23D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1B7D4360-8CDC-9AD3-78A8-DCBCA3FE93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6164" y="1347275"/>
            <a:ext cx="3097094" cy="139237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var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  <a:ea typeface="JetBrains Mono"/>
              </a:rPr>
              <a:t>dog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new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  <a:ea typeface="JetBrains Mono"/>
              </a:rPr>
              <a:t>testAki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65CCE1"/>
                </a:solidFill>
                <a:effectLst/>
                <a:latin typeface="Arial Unicode MS"/>
                <a:ea typeface="JetBrains Mono"/>
              </a:rPr>
              <a:t>Dog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DB7E9B"/>
                </a:solidFill>
                <a:effectLst/>
                <a:latin typeface="Arial Unicode MS"/>
                <a:ea typeface="JetBrains Mono"/>
              </a:rPr>
              <a:t>()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var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  <a:ea typeface="JetBrains Mono"/>
              </a:rPr>
              <a:t>cat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new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  <a:ea typeface="JetBrains Mono"/>
              </a:rPr>
              <a:t>testAki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65CCE1"/>
                </a:solidFill>
                <a:effectLst/>
                <a:latin typeface="Arial Unicode MS"/>
                <a:ea typeface="JetBrains Mono"/>
              </a:rPr>
              <a:t>Cat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DB7E9B"/>
                </a:solidFill>
                <a:effectLst/>
                <a:latin typeface="Arial Unicode MS"/>
                <a:ea typeface="JetBrains Mono"/>
              </a:rPr>
              <a:t>()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;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D644C8F-9531-AC90-0807-B5DD38D44C29}"/>
              </a:ext>
            </a:extLst>
          </p:cNvPr>
          <p:cNvSpPr txBox="1"/>
          <p:nvPr/>
        </p:nvSpPr>
        <p:spPr>
          <a:xfrm>
            <a:off x="1742078" y="5687882"/>
            <a:ext cx="78967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/>
              <a:t>针对一般性的</a:t>
            </a:r>
            <a:r>
              <a:rPr lang="en-US" altLang="zh-CN" sz="1400" dirty="0"/>
              <a:t>jni2aki</a:t>
            </a:r>
            <a:r>
              <a:rPr lang="zh-CN" altLang="en-US" sz="1400" dirty="0"/>
              <a:t>代码转换，可能都必须使用</a:t>
            </a:r>
            <a:r>
              <a:rPr lang="en-US" altLang="zh-CN" sz="1400" dirty="0"/>
              <a:t>JSBIND_CLASS</a:t>
            </a:r>
            <a:r>
              <a:rPr lang="zh-CN" altLang="en-US" sz="1400" dirty="0"/>
              <a:t>，而不是</a:t>
            </a:r>
            <a:r>
              <a:rPr lang="en-US" altLang="zh-CN" sz="1400" dirty="0"/>
              <a:t>JSBIND_GLOBAL…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/>
              <a:t>本例中，如果使用</a:t>
            </a:r>
            <a:r>
              <a:rPr lang="en-US" altLang="zh-CN" sz="1400" dirty="0"/>
              <a:t>JSBIND_GLOBAL</a:t>
            </a:r>
            <a:r>
              <a:rPr lang="zh-CN" altLang="en-US" sz="1400" dirty="0"/>
              <a:t>，则无法区分两个</a:t>
            </a:r>
            <a:r>
              <a:rPr lang="en-US" altLang="zh-CN" sz="1400" dirty="0" err="1"/>
              <a:t>sayHello</a:t>
            </a:r>
            <a:r>
              <a:rPr lang="en-US" altLang="zh-CN" sz="1400" dirty="0"/>
              <a:t>()</a:t>
            </a:r>
            <a:endParaRPr lang="en-US" sz="14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1161C2A-37B0-6F17-944C-A1629052C97E}"/>
              </a:ext>
            </a:extLst>
          </p:cNvPr>
          <p:cNvSpPr txBox="1"/>
          <p:nvPr/>
        </p:nvSpPr>
        <p:spPr>
          <a:xfrm>
            <a:off x="10507920" y="2277985"/>
            <a:ext cx="9752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-apple-system"/>
              </a:rPr>
              <a:t>User code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46520116-751F-333A-D862-8308E57D36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7896" y="1400837"/>
            <a:ext cx="1958235" cy="1393876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Dog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dog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 =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new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Dog()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Cat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cat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new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Cat()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;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10199C5-FB7C-3230-B7A2-035EA1EA1481}"/>
              </a:ext>
            </a:extLst>
          </p:cNvPr>
          <p:cNvSpPr txBox="1"/>
          <p:nvPr/>
        </p:nvSpPr>
        <p:spPr>
          <a:xfrm>
            <a:off x="3983629" y="2461073"/>
            <a:ext cx="9752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-apple-system"/>
              </a:rPr>
              <a:t>User code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3520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3DC25D-DB16-EB1B-0BB0-A6F45E3DD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Scenario - </a:t>
            </a:r>
            <a:r>
              <a:rPr lang="en-US" altLang="zh-CN" dirty="0" err="1"/>
              <a:t>enum</a:t>
            </a:r>
            <a:endParaRPr lang="en-US" dirty="0"/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656B62EA-2EAC-2B75-DDE8-2307EE2F7022}"/>
              </a:ext>
            </a:extLst>
          </p:cNvPr>
          <p:cNvSpPr txBox="1"/>
          <p:nvPr/>
        </p:nvSpPr>
        <p:spPr>
          <a:xfrm>
            <a:off x="496374" y="707045"/>
            <a:ext cx="5597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java</a:t>
            </a:r>
            <a:endParaRPr lang="en-CA" sz="1600" dirty="0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BAB9169B-31F1-789C-B0C8-34751E30E355}"/>
              </a:ext>
            </a:extLst>
          </p:cNvPr>
          <p:cNvSpPr txBox="1"/>
          <p:nvPr/>
        </p:nvSpPr>
        <p:spPr>
          <a:xfrm>
            <a:off x="491204" y="2519636"/>
            <a:ext cx="4924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JNI</a:t>
            </a:r>
            <a:endParaRPr lang="en-CA" sz="1600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1A5FD6CE-4926-09F3-581C-1C7DA3F59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11" y="1020290"/>
            <a:ext cx="3122972" cy="145734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45720" rIns="91440" bIns="0" numCol="1" anchor="ctr" anchorCtr="0" compatLnSpc="1">
            <a:no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CA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package </a:t>
            </a:r>
            <a:r>
              <a:rPr kumimoji="0" lang="en-CA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com.example.jnidemo</a:t>
            </a:r>
            <a:r>
              <a:rPr kumimoji="0" lang="en-CA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;</a:t>
            </a:r>
            <a:br>
              <a:rPr kumimoji="0" lang="en-CA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</a:br>
            <a:r>
              <a:rPr kumimoji="0" lang="en-CA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public class </a:t>
            </a:r>
            <a:r>
              <a:rPr kumimoji="0" lang="en-CA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 pitchFamily="34" charset="-122"/>
                <a:ea typeface="SimSun" panose="02010600030101010101" pitchFamily="2" charset="-122"/>
                <a:cs typeface="Courier New" panose="02070309020205020404" pitchFamily="49" charset="0"/>
              </a:rPr>
              <a:t>Hello 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CA" altLang="en-US" sz="1200" dirty="0">
                <a:solidFill>
                  <a:srgbClr val="A9B7C6"/>
                </a:solidFill>
                <a:latin typeface="Arial Unicode MS"/>
                <a:ea typeface="SimSun" panose="02010600030101010101" pitchFamily="2" charset="-122"/>
                <a:cs typeface="Courier New" panose="02070309020205020404" pitchFamily="49" charset="0"/>
              </a:rPr>
              <a:t>    </a:t>
            </a:r>
            <a:r>
              <a:rPr lang="en-US" altLang="en-US" sz="1200" dirty="0">
                <a:solidFill>
                  <a:srgbClr val="CC7832"/>
                </a:solidFill>
                <a:latin typeface="Arial Unicode MS"/>
                <a:ea typeface="JetBrains Mono"/>
              </a:rPr>
              <a:t>public </a:t>
            </a:r>
            <a:r>
              <a:rPr lang="en-US" altLang="en-US" sz="1200" dirty="0" err="1">
                <a:solidFill>
                  <a:srgbClr val="CC7832"/>
                </a:solidFill>
                <a:latin typeface="Arial Unicode MS"/>
                <a:ea typeface="JetBrains Mono"/>
              </a:rPr>
              <a:t>enum</a:t>
            </a:r>
            <a:r>
              <a:rPr lang="en-US" altLang="en-US" sz="1200" dirty="0">
                <a:solidFill>
                  <a:srgbClr val="CC7832"/>
                </a:solidFill>
                <a:latin typeface="Arial Unicode MS"/>
                <a:ea typeface="JetBrains Mono"/>
              </a:rPr>
              <a:t> </a:t>
            </a: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OP{    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rgbClr val="A9B7C6"/>
                </a:solidFill>
                <a:latin typeface="Arial Unicode MS"/>
                <a:ea typeface="JetBrains Mono"/>
              </a:rPr>
              <a:t>        </a:t>
            </a:r>
            <a:r>
              <a:rPr lang="en-US" altLang="en-US" sz="1200" i="1" dirty="0">
                <a:solidFill>
                  <a:srgbClr val="9876AA"/>
                </a:solidFill>
                <a:latin typeface="Arial Unicode MS"/>
                <a:ea typeface="JetBrains Mono"/>
              </a:rPr>
              <a:t>ADD</a:t>
            </a:r>
            <a:r>
              <a:rPr lang="en-US" altLang="en-US" sz="1200" dirty="0">
                <a:solidFill>
                  <a:srgbClr val="CC7832"/>
                </a:solidFill>
                <a:latin typeface="Arial Unicode MS"/>
                <a:ea typeface="JetBrains Mono"/>
              </a:rPr>
              <a:t>,     </a:t>
            </a:r>
            <a:r>
              <a:rPr lang="en-US" altLang="en-US" sz="1200" i="1" dirty="0">
                <a:solidFill>
                  <a:srgbClr val="9876AA"/>
                </a:solidFill>
                <a:latin typeface="Arial Unicode MS"/>
                <a:ea typeface="JetBrains Mono"/>
              </a:rPr>
              <a:t>SUB</a:t>
            </a:r>
            <a:r>
              <a:rPr lang="en-US" altLang="en-US" sz="1200" dirty="0">
                <a:solidFill>
                  <a:srgbClr val="CC7832"/>
                </a:solidFill>
                <a:latin typeface="Arial Unicode MS"/>
                <a:ea typeface="JetBrains Mono"/>
              </a:rPr>
              <a:t>,     </a:t>
            </a:r>
            <a:r>
              <a:rPr lang="en-US" altLang="en-US" sz="1200" i="1" dirty="0">
                <a:solidFill>
                  <a:srgbClr val="9876AA"/>
                </a:solidFill>
                <a:latin typeface="Arial Unicode MS"/>
                <a:ea typeface="JetBrains Mono"/>
              </a:rPr>
              <a:t>MUL</a:t>
            </a:r>
            <a:r>
              <a:rPr lang="en-US" altLang="en-US" sz="1200" dirty="0">
                <a:solidFill>
                  <a:srgbClr val="CC7832"/>
                </a:solidFill>
                <a:latin typeface="Arial Unicode MS"/>
                <a:ea typeface="JetBrains Mono"/>
              </a:rPr>
              <a:t>,    </a:t>
            </a:r>
            <a:r>
              <a:rPr lang="en-US" altLang="en-US" sz="1200" i="1" dirty="0">
                <a:solidFill>
                  <a:srgbClr val="9876AA"/>
                </a:solidFill>
                <a:latin typeface="Arial Unicode MS"/>
                <a:ea typeface="JetBrains Mono"/>
              </a:rPr>
              <a:t>DIV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    }</a:t>
            </a:r>
            <a:b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</a:b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    </a:t>
            </a:r>
            <a:r>
              <a:rPr lang="en-US" altLang="en-US" sz="1200" dirty="0">
                <a:solidFill>
                  <a:srgbClr val="CC7832"/>
                </a:solidFill>
                <a:latin typeface="Arial Unicode MS"/>
                <a:ea typeface="JetBrains Mono"/>
              </a:rPr>
              <a:t>public native int </a:t>
            </a:r>
            <a:r>
              <a:rPr lang="en-US" altLang="en-US" sz="1200" dirty="0">
                <a:solidFill>
                  <a:srgbClr val="FFC66D"/>
                </a:solidFill>
                <a:latin typeface="Arial Unicode MS"/>
                <a:ea typeface="JetBrains Mono"/>
              </a:rPr>
              <a:t>calc</a:t>
            </a: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(</a:t>
            </a:r>
            <a:r>
              <a:rPr lang="en-US" altLang="en-US" sz="1200" dirty="0">
                <a:solidFill>
                  <a:srgbClr val="CC7832"/>
                </a:solidFill>
                <a:latin typeface="Arial Unicode MS"/>
                <a:ea typeface="JetBrains Mono"/>
              </a:rPr>
              <a:t>int </a:t>
            </a:r>
            <a:r>
              <a:rPr lang="en-US" altLang="en-US" sz="1200" dirty="0" err="1">
                <a:solidFill>
                  <a:srgbClr val="A9B7C6"/>
                </a:solidFill>
                <a:latin typeface="Arial Unicode MS"/>
                <a:ea typeface="JetBrains Mono"/>
              </a:rPr>
              <a:t>a</a:t>
            </a:r>
            <a:r>
              <a:rPr lang="en-US" altLang="en-US" sz="1200" dirty="0" err="1">
                <a:solidFill>
                  <a:srgbClr val="CC7832"/>
                </a:solidFill>
                <a:latin typeface="Arial Unicode MS"/>
                <a:ea typeface="JetBrains Mono"/>
              </a:rPr>
              <a:t>,int</a:t>
            </a:r>
            <a:r>
              <a:rPr lang="en-US" altLang="en-US" sz="1200" dirty="0">
                <a:solidFill>
                  <a:srgbClr val="CC7832"/>
                </a:solidFill>
                <a:latin typeface="Arial Unicode MS"/>
                <a:ea typeface="JetBrains Mono"/>
              </a:rPr>
              <a:t> </a:t>
            </a: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b</a:t>
            </a:r>
            <a:r>
              <a:rPr lang="en-US" altLang="en-US" sz="1200" dirty="0">
                <a:solidFill>
                  <a:srgbClr val="CC7832"/>
                </a:solidFill>
                <a:latin typeface="Arial Unicode MS"/>
                <a:ea typeface="JetBrains Mono"/>
              </a:rPr>
              <a:t>, </a:t>
            </a: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OP </a:t>
            </a:r>
            <a:r>
              <a:rPr lang="en-US" altLang="en-US" sz="1200" dirty="0" err="1">
                <a:solidFill>
                  <a:srgbClr val="A9B7C6"/>
                </a:solidFill>
                <a:latin typeface="Arial Unicode MS"/>
                <a:ea typeface="JetBrains Mono"/>
              </a:rPr>
              <a:t>op</a:t>
            </a: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 )</a:t>
            </a:r>
            <a:r>
              <a:rPr lang="en-US" altLang="en-US" sz="1200" dirty="0">
                <a:solidFill>
                  <a:srgbClr val="CC7832"/>
                </a:solidFill>
                <a:latin typeface="Arial Unicode MS"/>
                <a:ea typeface="JetBrains Mono"/>
              </a:rPr>
              <a:t>;</a:t>
            </a:r>
            <a:endParaRPr lang="en-US" altLang="en-US" sz="1200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}  </a:t>
            </a:r>
            <a:endParaRPr kumimoji="0" lang="en-CA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D5AA591A-C0DA-D6D4-9B04-5807AD09272D}"/>
              </a:ext>
            </a:extLst>
          </p:cNvPr>
          <p:cNvSpPr txBox="1"/>
          <p:nvPr/>
        </p:nvSpPr>
        <p:spPr>
          <a:xfrm>
            <a:off x="8162245" y="2580445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aki</a:t>
            </a:r>
            <a:endParaRPr lang="en-CA" dirty="0"/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D149502F-1561-D872-E9F8-284A7746CDC8}"/>
              </a:ext>
            </a:extLst>
          </p:cNvPr>
          <p:cNvSpPr/>
          <p:nvPr/>
        </p:nvSpPr>
        <p:spPr bwMode="auto">
          <a:xfrm>
            <a:off x="478385" y="779928"/>
            <a:ext cx="5256493" cy="536358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9200" tIns="39600" rIns="79200" bIns="39600" numCol="1" rtlCol="0" anchor="t" anchorCtr="0" compatLnSpc="1">
            <a:noAutofit/>
          </a:bodyPr>
          <a:lstStyle/>
          <a:p>
            <a:pPr marL="0" marR="0" indent="0" algn="l" defTabSz="8020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CA" sz="1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6" name="Rectangle 14">
            <a:extLst>
              <a:ext uri="{FF2B5EF4-FFF2-40B4-BE49-F238E27FC236}">
                <a16:creationId xmlns:a16="http://schemas.microsoft.com/office/drawing/2014/main" id="{A1AF32F0-179B-8210-2234-6C16C4573DB0}"/>
              </a:ext>
            </a:extLst>
          </p:cNvPr>
          <p:cNvSpPr/>
          <p:nvPr/>
        </p:nvSpPr>
        <p:spPr bwMode="auto">
          <a:xfrm>
            <a:off x="6457124" y="779928"/>
            <a:ext cx="5333823" cy="536358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9200" tIns="39600" rIns="79200" bIns="39600" numCol="1" rtlCol="0" anchor="t" anchorCtr="0" compatLnSpc="1">
            <a:noAutofit/>
          </a:bodyPr>
          <a:lstStyle/>
          <a:p>
            <a:pPr marL="0" marR="0" indent="0" algn="l" defTabSz="8020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CA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7" name="Right Arrow 15">
            <a:extLst>
              <a:ext uri="{FF2B5EF4-FFF2-40B4-BE49-F238E27FC236}">
                <a16:creationId xmlns:a16="http://schemas.microsoft.com/office/drawing/2014/main" id="{D274732E-143C-CDD8-28F5-BEF733B6651A}"/>
              </a:ext>
            </a:extLst>
          </p:cNvPr>
          <p:cNvSpPr/>
          <p:nvPr/>
        </p:nvSpPr>
        <p:spPr bwMode="auto">
          <a:xfrm>
            <a:off x="5779544" y="3302957"/>
            <a:ext cx="593100" cy="523550"/>
          </a:xfrm>
          <a:prstGeom prst="right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9200" tIns="39600" rIns="79200" bIns="39600" numCol="1" rtlCol="0" anchor="t" anchorCtr="0" compatLnSpc="1">
            <a:noAutofit/>
          </a:bodyPr>
          <a:lstStyle/>
          <a:p>
            <a:pPr marL="0" marR="0" indent="0" algn="l" defTabSz="8020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CA" sz="1400" b="0" i="0" u="none" strike="noStrike" cap="none" normalizeH="0" baseline="0">
              <a:ln>
                <a:noFill/>
              </a:ln>
              <a:noFill/>
              <a:effectLst/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167390C-039F-2EFC-8B26-B4EFA581D00C}"/>
              </a:ext>
            </a:extLst>
          </p:cNvPr>
          <p:cNvSpPr txBox="1"/>
          <p:nvPr/>
        </p:nvSpPr>
        <p:spPr>
          <a:xfrm>
            <a:off x="607531" y="2818818"/>
            <a:ext cx="5042866" cy="3054608"/>
          </a:xfrm>
          <a:prstGeom prst="rect">
            <a:avLst/>
          </a:prstGeom>
          <a:solidFill>
            <a:schemeClr val="tx1"/>
          </a:solidFill>
        </p:spPr>
        <p:txBody>
          <a:bodyPr wrap="square" numCol="1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100" dirty="0" err="1">
                <a:solidFill>
                  <a:srgbClr val="CC7832"/>
                </a:solidFill>
                <a:latin typeface="Arial Unicode MS"/>
                <a:ea typeface="JetBrains Mono"/>
              </a:rPr>
              <a:t>jint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  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add(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jint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 a, 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jint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 b) {</a:t>
            </a:r>
            <a:b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</a:b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    return a+ b;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}</a:t>
            </a:r>
            <a:endParaRPr lang="en-US" altLang="en-US" sz="1100" dirty="0">
              <a:solidFill>
                <a:srgbClr val="CC7832"/>
              </a:solidFill>
              <a:latin typeface="Arial Unicode MS"/>
              <a:ea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extern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  <a:ea typeface="JetBrains Mono"/>
              </a:rPr>
              <a:t>"C“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908B25"/>
                </a:solidFill>
                <a:effectLst/>
                <a:latin typeface="Arial Unicode MS"/>
                <a:ea typeface="JetBrains Mono"/>
              </a:rPr>
              <a:t>JNIEXPORT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jint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908B25"/>
                </a:solidFill>
                <a:effectLst/>
                <a:latin typeface="Arial Unicode MS"/>
                <a:ea typeface="JetBrains Mono"/>
              </a:rPr>
              <a:t>JNICALL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908B25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FFC66D"/>
                </a:solidFill>
                <a:effectLst/>
                <a:latin typeface="Arial Unicode MS"/>
                <a:ea typeface="JetBrains Mono"/>
              </a:rPr>
              <a:t>Java_com_example_jni</a:t>
            </a:r>
            <a:r>
              <a:rPr kumimoji="0" lang="en-US" altLang="zh-CN" sz="1100" b="0" i="0" u="none" strike="noStrike" cap="none" normalizeH="0" baseline="0" dirty="0" err="1">
                <a:ln>
                  <a:noFill/>
                </a:ln>
                <a:solidFill>
                  <a:srgbClr val="FFC66D"/>
                </a:solidFill>
                <a:effectLst/>
                <a:latin typeface="Arial Unicode MS"/>
                <a:ea typeface="JetBrains Mono"/>
              </a:rPr>
              <a:t>demo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FFC66D"/>
                </a:solidFill>
                <a:effectLst/>
                <a:latin typeface="Arial Unicode MS"/>
                <a:ea typeface="JetBrains Mono"/>
              </a:rPr>
              <a:t>_Hello_calc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JNIEnv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*env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jobject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9BCD1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this,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jobject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 op) 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     </a:t>
            </a:r>
            <a:r>
              <a:rPr lang="en-US" altLang="en-US" sz="1100" dirty="0" err="1">
                <a:solidFill>
                  <a:srgbClr val="B9BCD1"/>
                </a:solidFill>
                <a:latin typeface="Arial Unicode MS"/>
                <a:ea typeface="JetBrains Mono"/>
              </a:rPr>
              <a:t>jclass</a:t>
            </a:r>
            <a:r>
              <a:rPr lang="en-US" altLang="en-US" sz="1100" dirty="0">
                <a:solidFill>
                  <a:srgbClr val="B9BCD1"/>
                </a:solidFill>
                <a:latin typeface="Arial Unicode MS"/>
                <a:ea typeface="JetBrains Mono"/>
              </a:rPr>
              <a:t> 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jc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= env-&gt;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GetObjectClass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(op)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;</a:t>
            </a:r>
            <a:b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</a:b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    </a:t>
            </a:r>
            <a:r>
              <a:rPr lang="en-US" altLang="en-US" sz="1100" dirty="0" err="1">
                <a:solidFill>
                  <a:srgbClr val="B9BCD1"/>
                </a:solidFill>
                <a:latin typeface="Arial Unicode MS"/>
                <a:ea typeface="JetBrains Mono"/>
              </a:rPr>
              <a:t>jmethodID</a:t>
            </a:r>
            <a:r>
              <a:rPr lang="en-US" altLang="en-US" sz="1100" dirty="0">
                <a:solidFill>
                  <a:srgbClr val="B9BCD1"/>
                </a:solidFill>
                <a:latin typeface="Arial Unicode MS"/>
                <a:ea typeface="JetBrains Mono"/>
              </a:rPr>
              <a:t> 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jmid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 = env-&gt;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GetMethodID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(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jc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, </a:t>
            </a:r>
            <a:r>
              <a:rPr lang="en-US" altLang="en-US" sz="1100" dirty="0">
                <a:solidFill>
                  <a:srgbClr val="6A8759"/>
                </a:solidFill>
                <a:latin typeface="Arial Unicode MS"/>
                <a:ea typeface="JetBrains Mono"/>
              </a:rPr>
              <a:t>"name"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, </a:t>
            </a:r>
            <a:r>
              <a:rPr lang="en-US" altLang="en-US" sz="1100" dirty="0">
                <a:solidFill>
                  <a:srgbClr val="6A8759"/>
                </a:solidFill>
                <a:latin typeface="Arial Unicode MS"/>
                <a:ea typeface="JetBrains Mono"/>
              </a:rPr>
              <a:t>"()</a:t>
            </a:r>
            <a:r>
              <a:rPr lang="en-US" altLang="en-US" sz="1100" dirty="0" err="1">
                <a:solidFill>
                  <a:srgbClr val="6A8759"/>
                </a:solidFill>
                <a:latin typeface="Arial Unicode MS"/>
                <a:ea typeface="JetBrains Mono"/>
              </a:rPr>
              <a:t>Ljava</a:t>
            </a:r>
            <a:r>
              <a:rPr lang="en-US" altLang="en-US" sz="1100" dirty="0">
                <a:solidFill>
                  <a:srgbClr val="6A8759"/>
                </a:solidFill>
                <a:latin typeface="Arial Unicode MS"/>
                <a:ea typeface="JetBrains Mono"/>
              </a:rPr>
              <a:t>/lang/String;"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)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;</a:t>
            </a:r>
            <a:b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</a:b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    </a:t>
            </a:r>
            <a:r>
              <a:rPr lang="en-US" altLang="en-US" sz="1100" dirty="0" err="1">
                <a:solidFill>
                  <a:srgbClr val="B9BCD1"/>
                </a:solidFill>
                <a:latin typeface="Arial Unicode MS"/>
                <a:ea typeface="JetBrains Mono"/>
              </a:rPr>
              <a:t>jstring</a:t>
            </a:r>
            <a:r>
              <a:rPr lang="en-US" altLang="en-US" sz="1100" dirty="0">
                <a:solidFill>
                  <a:srgbClr val="B9BCD1"/>
                </a:solidFill>
                <a:latin typeface="Arial Unicode MS"/>
                <a:ea typeface="JetBrains Mono"/>
              </a:rPr>
              <a:t> 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value = (</a:t>
            </a:r>
            <a:r>
              <a:rPr lang="en-US" altLang="en-US" sz="1100" dirty="0" err="1">
                <a:solidFill>
                  <a:srgbClr val="B9BCD1"/>
                </a:solidFill>
                <a:latin typeface="Arial Unicode MS"/>
                <a:ea typeface="JetBrains Mono"/>
              </a:rPr>
              <a:t>jstring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)env-&gt;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CallObjectMethod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(op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, 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jmid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)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;</a:t>
            </a:r>
            <a:b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</a:b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    const char 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* 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valueNative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 = env-&gt;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GetStringUTFChars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(value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, </a:t>
            </a:r>
            <a:r>
              <a:rPr lang="en-US" altLang="en-US" sz="1100" dirty="0">
                <a:solidFill>
                  <a:srgbClr val="6897BB"/>
                </a:solidFill>
                <a:latin typeface="Arial Unicode MS"/>
                <a:ea typeface="JetBrains Mono"/>
              </a:rPr>
              <a:t>0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)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;</a:t>
            </a:r>
            <a:b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</a:br>
            <a:b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</a:b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    if 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(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strcmp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(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valueNative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, </a:t>
            </a:r>
            <a:r>
              <a:rPr lang="en-US" altLang="en-US" sz="1100" dirty="0">
                <a:solidFill>
                  <a:srgbClr val="6A8759"/>
                </a:solidFill>
                <a:latin typeface="Arial Unicode MS"/>
                <a:ea typeface="JetBrains Mono"/>
              </a:rPr>
              <a:t>"ADD"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) == </a:t>
            </a:r>
            <a:r>
              <a:rPr lang="en-US" altLang="en-US" sz="1100" dirty="0">
                <a:solidFill>
                  <a:srgbClr val="6897BB"/>
                </a:solidFill>
                <a:latin typeface="Arial Unicode MS"/>
                <a:ea typeface="JetBrains Mono"/>
              </a:rPr>
              <a:t>0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) {</a:t>
            </a:r>
            <a:b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</a:b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        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return 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add(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a</a:t>
            </a:r>
            <a:r>
              <a:rPr lang="en-US" altLang="en-US" sz="1100" dirty="0" err="1">
                <a:solidFill>
                  <a:srgbClr val="CC7832"/>
                </a:solidFill>
                <a:latin typeface="Arial Unicode MS"/>
                <a:ea typeface="JetBrains Mono"/>
              </a:rPr>
              <a:t>,</a:t>
            </a:r>
            <a:r>
              <a:rPr lang="en-US" altLang="en-US" sz="1100" dirty="0" err="1">
                <a:solidFill>
                  <a:srgbClr val="A9B7C6"/>
                </a:solidFill>
                <a:latin typeface="Arial Unicode MS"/>
                <a:ea typeface="JetBrains Mono"/>
              </a:rPr>
              <a:t>b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)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;</a:t>
            </a:r>
            <a:b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</a:b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    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}</a:t>
            </a:r>
            <a:b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</a:b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    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else 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{</a:t>
            </a:r>
            <a:b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</a:b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        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return </a:t>
            </a:r>
            <a:r>
              <a:rPr lang="en-US" altLang="en-US" sz="1100" dirty="0">
                <a:solidFill>
                  <a:srgbClr val="6897BB"/>
                </a:solidFill>
                <a:latin typeface="Arial Unicode MS"/>
                <a:ea typeface="JetBrains Mono"/>
              </a:rPr>
              <a:t>0</a:t>
            </a: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;</a:t>
            </a:r>
            <a:b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</a:br>
            <a:r>
              <a:rPr lang="en-US" altLang="en-US" sz="1100" dirty="0">
                <a:solidFill>
                  <a:srgbClr val="CC7832"/>
                </a:solidFill>
                <a:latin typeface="Arial Unicode MS"/>
                <a:ea typeface="JetBrains Mono"/>
              </a:rPr>
              <a:t>    </a:t>
            </a:r>
            <a:r>
              <a:rPr lang="en-US" altLang="en-US" sz="1100" dirty="0">
                <a:solidFill>
                  <a:srgbClr val="A9B7C6"/>
                </a:solidFill>
                <a:latin typeface="Arial Unicode MS"/>
                <a:ea typeface="JetBrains Mono"/>
              </a:rPr>
              <a:t>}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}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D0814410-117E-A04D-80EB-6B861E934E23}"/>
              </a:ext>
            </a:extLst>
          </p:cNvPr>
          <p:cNvSpPr txBox="1"/>
          <p:nvPr/>
        </p:nvSpPr>
        <p:spPr>
          <a:xfrm>
            <a:off x="10353058" y="721895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ets</a:t>
            </a:r>
            <a:endParaRPr lang="en-CA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44FCCA0-939F-207C-8E09-A0993A606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745" y="1020290"/>
            <a:ext cx="1520250" cy="1457343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…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50" dirty="0">
                <a:solidFill>
                  <a:srgbClr val="A9B7C6"/>
                </a:solidFill>
                <a:latin typeface="Arial Unicode MS"/>
                <a:ea typeface="JetBrains Mono"/>
              </a:rPr>
              <a:t>calc(</a:t>
            </a:r>
            <a:r>
              <a:rPr lang="en-US" altLang="en-US" sz="1050" dirty="0">
                <a:solidFill>
                  <a:srgbClr val="6897BB"/>
                </a:solidFill>
                <a:latin typeface="Arial Unicode MS"/>
                <a:ea typeface="JetBrains Mono"/>
              </a:rPr>
              <a:t>41</a:t>
            </a:r>
            <a:r>
              <a:rPr lang="en-US" altLang="en-US" sz="1050" dirty="0">
                <a:solidFill>
                  <a:srgbClr val="CC7832"/>
                </a:solidFill>
                <a:latin typeface="Arial Unicode MS"/>
                <a:ea typeface="JetBrains Mono"/>
              </a:rPr>
              <a:t>,</a:t>
            </a:r>
            <a:r>
              <a:rPr lang="en-US" altLang="en-US" sz="1050" dirty="0">
                <a:solidFill>
                  <a:srgbClr val="6897BB"/>
                </a:solidFill>
                <a:latin typeface="Arial Unicode MS"/>
                <a:ea typeface="JetBrains Mono"/>
              </a:rPr>
              <a:t>42</a:t>
            </a:r>
            <a:r>
              <a:rPr lang="en-US" altLang="en-US" sz="1050" dirty="0">
                <a:solidFill>
                  <a:srgbClr val="CC7832"/>
                </a:solidFill>
                <a:latin typeface="Arial Unicode MS"/>
                <a:ea typeface="JetBrains Mono"/>
              </a:rPr>
              <a:t>,</a:t>
            </a:r>
            <a:r>
              <a:rPr lang="en-US" altLang="en-US" sz="1050" dirty="0">
                <a:solidFill>
                  <a:srgbClr val="A9B7C6"/>
                </a:solidFill>
                <a:latin typeface="Arial Unicode MS"/>
                <a:ea typeface="JetBrains Mono"/>
              </a:rPr>
              <a:t>OP.</a:t>
            </a:r>
            <a:r>
              <a:rPr lang="en-US" altLang="en-US" sz="1050" i="1" dirty="0">
                <a:solidFill>
                  <a:srgbClr val="9876AA"/>
                </a:solidFill>
                <a:latin typeface="Arial Unicode MS"/>
                <a:ea typeface="JetBrains Mono"/>
              </a:rPr>
              <a:t>ADD</a:t>
            </a:r>
            <a:r>
              <a:rPr lang="en-US" altLang="en-US" sz="1050" dirty="0">
                <a:solidFill>
                  <a:srgbClr val="A9B7C6"/>
                </a:solidFill>
                <a:latin typeface="Arial Unicode MS"/>
                <a:ea typeface="JetBrains Mono"/>
              </a:rPr>
              <a:t>)</a:t>
            </a:r>
            <a:r>
              <a:rPr lang="en-US" altLang="en-US" sz="1050" dirty="0">
                <a:solidFill>
                  <a:srgbClr val="CC7832"/>
                </a:solidFill>
                <a:latin typeface="Arial Unicode MS"/>
                <a:ea typeface="JetBrains Mono"/>
              </a:rPr>
              <a:t>;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…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BC636E4-3426-A625-898D-736EF6EF2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1D5D5110-BF4A-D78C-A9DD-36CD14208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26F5561-8957-97AE-3F9C-8CA6044B2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2811" y="2858190"/>
            <a:ext cx="5180804" cy="3054608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enum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OP {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9876AA"/>
                </a:solidFill>
                <a:effectLst/>
                <a:latin typeface="Arial Unicode MS"/>
                <a:ea typeface="JetBrains Mono"/>
              </a:rPr>
              <a:t>ADD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9876AA"/>
                </a:solidFill>
                <a:effectLst/>
                <a:latin typeface="Arial Unicode MS"/>
                <a:ea typeface="JetBrains Mono"/>
              </a:rPr>
              <a:t>SUB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9876AA"/>
                </a:solidFill>
                <a:effectLst/>
                <a:latin typeface="Arial Unicode MS"/>
                <a:ea typeface="JetBrains Mono"/>
              </a:rPr>
              <a:t>MUL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9876AA"/>
                </a:solidFill>
                <a:effectLst/>
                <a:latin typeface="Arial Unicode MS"/>
                <a:ea typeface="JetBrains Mono"/>
              </a:rPr>
              <a:t>DIV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}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BB529"/>
                </a:solidFill>
                <a:effectLst/>
                <a:latin typeface="Arial Unicode MS"/>
                <a:ea typeface="JetBrains Mono"/>
              </a:rPr>
              <a:t>JSBIND_ENUM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(OP)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BB529"/>
                </a:solidFill>
                <a:effectLst/>
                <a:latin typeface="Arial Unicode MS"/>
                <a:ea typeface="JetBrains Mono"/>
              </a:rPr>
              <a:t>JSBIND_ENUM_VALUE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(ADD)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BB529"/>
                </a:solidFill>
                <a:effectLst/>
                <a:latin typeface="Arial Unicode MS"/>
                <a:ea typeface="JetBrains Mono"/>
              </a:rPr>
              <a:t>JSBIND_ENUM_VALUE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(SUB)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BB529"/>
                </a:solidFill>
                <a:effectLst/>
                <a:latin typeface="Arial Unicode MS"/>
                <a:ea typeface="JetBrains Mono"/>
              </a:rPr>
              <a:t>JSBIND_ENUM_VALUE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(MUL)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BB529"/>
                </a:solidFill>
                <a:effectLst/>
                <a:latin typeface="Arial Unicode MS"/>
                <a:ea typeface="JetBrains Mono"/>
              </a:rPr>
              <a:t>JSBIND_ENUM_VALUE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(DIV)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int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C66D"/>
                </a:solidFill>
                <a:effectLst/>
                <a:latin typeface="Arial Unicode MS"/>
                <a:ea typeface="JetBrains Mono"/>
              </a:rPr>
              <a:t>calc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int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, int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b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, int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op){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if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(op ==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9876AA"/>
                </a:solidFill>
                <a:effectLst/>
                <a:latin typeface="Arial Unicode MS"/>
                <a:ea typeface="JetBrains Mono"/>
              </a:rPr>
              <a:t>ADD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){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return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a+b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else return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Arial Unicode MS"/>
                <a:ea typeface="JetBrains Mono"/>
              </a:rPr>
              <a:t>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  <a:ea typeface="JetBrains Mono"/>
              </a:rPr>
              <a:t>}</a:t>
            </a:r>
            <a:r>
              <a:rPr lang="en-US" altLang="en-US" sz="1200" dirty="0">
                <a:solidFill>
                  <a:srgbClr val="BBB529"/>
                </a:solidFill>
                <a:latin typeface="Arial Unicode MS"/>
                <a:ea typeface="JetBrains Mono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BBB529"/>
                </a:solidFill>
                <a:latin typeface="Arial Unicode MS"/>
                <a:ea typeface="JetBrains Mono"/>
              </a:rPr>
              <a:t>JSBIND_GLOBAL</a:t>
            </a: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() {</a:t>
            </a:r>
            <a:br>
              <a:rPr lang="en-US" altLang="en-US" sz="1200" dirty="0">
                <a:solidFill>
                  <a:srgbClr val="CC7832"/>
                </a:solidFill>
                <a:latin typeface="Arial Unicode MS"/>
                <a:ea typeface="JetBrains Mono"/>
              </a:rPr>
            </a:br>
            <a:r>
              <a:rPr lang="en-US" altLang="en-US" sz="1200" dirty="0">
                <a:solidFill>
                  <a:srgbClr val="CC7832"/>
                </a:solidFill>
                <a:latin typeface="Arial Unicode MS"/>
                <a:ea typeface="JetBrains Mono"/>
              </a:rPr>
              <a:t>    </a:t>
            </a:r>
            <a:r>
              <a:rPr lang="en-US" altLang="en-US" sz="1200" dirty="0">
                <a:solidFill>
                  <a:srgbClr val="BBB529"/>
                </a:solidFill>
                <a:latin typeface="Arial Unicode MS"/>
                <a:ea typeface="JetBrains Mono"/>
              </a:rPr>
              <a:t>JSBIND_FUNCTION</a:t>
            </a: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(</a:t>
            </a:r>
            <a:r>
              <a:rPr lang="en-US" altLang="en-US" sz="1200" dirty="0">
                <a:solidFill>
                  <a:srgbClr val="FFC66D"/>
                </a:solidFill>
                <a:latin typeface="Arial Unicode MS"/>
                <a:ea typeface="JetBrains Mono"/>
              </a:rPr>
              <a:t>calc</a:t>
            </a: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)</a:t>
            </a:r>
            <a:r>
              <a:rPr lang="en-US" altLang="en-US" sz="1200" dirty="0">
                <a:solidFill>
                  <a:srgbClr val="CC7832"/>
                </a:solidFill>
                <a:latin typeface="Arial Unicode MS"/>
                <a:ea typeface="JetBrains Mono"/>
              </a:rPr>
              <a:t>;</a:t>
            </a:r>
            <a:br>
              <a:rPr lang="en-US" altLang="en-US" sz="1200" dirty="0">
                <a:solidFill>
                  <a:srgbClr val="CC7832"/>
                </a:solidFill>
                <a:latin typeface="Arial Unicode MS"/>
                <a:ea typeface="JetBrains Mono"/>
              </a:rPr>
            </a:br>
            <a:r>
              <a:rPr lang="en-US" altLang="en-US" sz="1200" dirty="0">
                <a:solidFill>
                  <a:srgbClr val="A9B7C6"/>
                </a:solidFill>
                <a:latin typeface="Arial Unicode MS"/>
                <a:ea typeface="JetBrains Mono"/>
              </a:rPr>
              <a:t>}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BE3EEE13-07BD-B129-1A8C-173DFDA3DB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8997" y="1045599"/>
            <a:ext cx="2427082" cy="143203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export </a:t>
            </a:r>
            <a:r>
              <a:rPr kumimoji="0" lang="en-US" altLang="en-US" sz="1200" i="0" u="none" strike="noStrike" cap="none" normalizeH="0" baseline="0" dirty="0" err="1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enum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65CCE1"/>
                </a:solidFill>
                <a:effectLst/>
                <a:latin typeface="Arial Unicode MS"/>
                <a:ea typeface="JetBrains Mono"/>
              </a:rPr>
              <a:t>OP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FAA23D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FAA23D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FAA23D"/>
                </a:solidFill>
                <a:effectLst/>
                <a:latin typeface="Arial Unicode MS"/>
                <a:ea typeface="JetBrains Mono"/>
              </a:rPr>
              <a:t>  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  <a:ea typeface="JetBrains Mono"/>
              </a:rPr>
              <a:t>ADD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,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  <a:ea typeface="JetBrains Mono"/>
              </a:rPr>
              <a:t>SUB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,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  <a:ea typeface="JetBrains Mono"/>
              </a:rPr>
              <a:t>MUL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,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  <a:ea typeface="JetBrains Mono"/>
              </a:rPr>
              <a:t>DIV</a:t>
            </a:r>
            <a:b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FAA23D"/>
                </a:solidFill>
                <a:effectLst/>
                <a:latin typeface="Arial Unicode MS"/>
                <a:ea typeface="JetBrains Mono"/>
              </a:rPr>
              <a:t>}</a:t>
            </a:r>
            <a:b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FAA23D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export const 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  <a:ea typeface="JetBrains Mono"/>
              </a:rPr>
              <a:t>calc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: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DB7E9B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20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  <a:ea typeface="JetBrains Mono"/>
              </a:rPr>
              <a:t>a</a:t>
            </a:r>
            <a:r>
              <a:rPr kumimoji="0" lang="en-US" altLang="en-US" sz="1200" i="0" u="none" strike="noStrike" cap="none" normalizeH="0" baseline="0" dirty="0" err="1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:</a:t>
            </a:r>
            <a:r>
              <a:rPr kumimoji="0" lang="en-US" altLang="en-US" sz="120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number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  <a:ea typeface="JetBrains Mono"/>
              </a:rPr>
              <a:t>b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: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number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en-US" altLang="en-US" sz="120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  <a:ea typeface="JetBrains Mono"/>
              </a:rPr>
              <a:t>op</a:t>
            </a:r>
            <a:r>
              <a:rPr kumimoji="0" lang="en-US" altLang="en-US" sz="1200" i="0" u="none" strike="noStrike" cap="none" normalizeH="0" baseline="0" dirty="0" err="1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:</a:t>
            </a:r>
            <a:r>
              <a:rPr kumimoji="0" lang="en-US" altLang="en-US" sz="120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number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DB7E9B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=&gt;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  <a:ea typeface="JetBrains Mono"/>
              </a:rPr>
              <a:t>number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;</a:t>
            </a:r>
            <a:endParaRPr kumimoji="0" lang="en-US" altLang="en-US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060B63A-A645-403D-03AC-992EA5EB7725}"/>
              </a:ext>
            </a:extLst>
          </p:cNvPr>
          <p:cNvSpPr txBox="1"/>
          <p:nvPr/>
        </p:nvSpPr>
        <p:spPr>
          <a:xfrm>
            <a:off x="7973378" y="707045"/>
            <a:ext cx="4897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dts</a:t>
            </a:r>
            <a:endParaRPr lang="en-US" dirty="0"/>
          </a:p>
        </p:txBody>
      </p:sp>
      <p:sp>
        <p:nvSpPr>
          <p:cNvPr id="19" name="Rectangle 4">
            <a:extLst>
              <a:ext uri="{FF2B5EF4-FFF2-40B4-BE49-F238E27FC236}">
                <a16:creationId xmlns:a16="http://schemas.microsoft.com/office/drawing/2014/main" id="{C8EEED99-5A09-DAD3-BFE6-6C203E6634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0" y="1091227"/>
            <a:ext cx="2569616" cy="1386406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FFFFFF"/>
                </a:solidFill>
                <a:latin typeface="Arial Unicode MS"/>
                <a:ea typeface="JetBrains Mono"/>
              </a:rPr>
              <a:t>…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 Unicode MS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  <a:ea typeface="JetBrains Mono"/>
              </a:rPr>
              <a:t>testAki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65CCE1"/>
                </a:solidFill>
                <a:effectLst/>
                <a:latin typeface="Arial Unicode MS"/>
                <a:ea typeface="JetBrains Mono"/>
              </a:rPr>
              <a:t>calc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B7E9B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3E54C"/>
                </a:solidFill>
                <a:effectLst/>
                <a:latin typeface="Arial Unicode MS"/>
                <a:ea typeface="JetBrains Mono"/>
              </a:rPr>
              <a:t>41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,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3E54C"/>
                </a:solidFill>
                <a:effectLst/>
                <a:latin typeface="Arial Unicode MS"/>
                <a:ea typeface="JetBrains Mono"/>
              </a:rPr>
              <a:t>42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,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  <a:ea typeface="JetBrains Mono"/>
              </a:rPr>
              <a:t>testAki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  <a:ea typeface="JetBrains Mono"/>
              </a:rPr>
              <a:t>OP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2DA90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  <a:ea typeface="JetBrains Mono"/>
              </a:rPr>
              <a:t>ADD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B7E9B"/>
                </a:solidFill>
                <a:effectLst/>
                <a:latin typeface="Arial Unicode MS"/>
                <a:ea typeface="JetBrains Mono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DB7E9B"/>
                </a:solidFill>
                <a:latin typeface="Arial" panose="020B0604020202020204" pitchFamily="34" charset="0"/>
              </a:rPr>
              <a:t>…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8945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zEwNTM5NzYwMDRjMzkwZTVkZjY2ODkwMGIxNGU0OTUifQ=="/>
</p:tagLst>
</file>

<file path=ppt/theme/theme1.xml><?xml version="1.0" encoding="utf-8"?>
<a:theme xmlns:a="http://schemas.openxmlformats.org/drawingml/2006/main" name="2_default">
  <a:themeElements>
    <a:clrScheme name="default 1">
      <a:dk1>
        <a:srgbClr val="000000"/>
      </a:dk1>
      <a:lt1>
        <a:srgbClr val="FFFFFF"/>
      </a:lt1>
      <a:dk2>
        <a:srgbClr val="990000"/>
      </a:dk2>
      <a:lt2>
        <a:srgbClr val="777777"/>
      </a:lt2>
      <a:accent1>
        <a:srgbClr val="FFCC99"/>
      </a:accent1>
      <a:accent2>
        <a:srgbClr val="FFCC66"/>
      </a:accent2>
      <a:accent3>
        <a:srgbClr val="FFFFFF"/>
      </a:accent3>
      <a:accent4>
        <a:srgbClr val="000000"/>
      </a:accent4>
      <a:accent5>
        <a:srgbClr val="FFE2CA"/>
      </a:accent5>
      <a:accent6>
        <a:srgbClr val="E7B95C"/>
      </a:accent6>
      <a:hlink>
        <a:srgbClr val="FF9900"/>
      </a:hlink>
      <a:folHlink>
        <a:srgbClr val="996600"/>
      </a:folHlink>
    </a:clrScheme>
    <a:fontScheme name="default">
      <a:majorFont>
        <a:latin typeface="Arial"/>
        <a:ea typeface="黑体"/>
        <a:cs typeface=""/>
      </a:majorFont>
      <a:minorFont>
        <a:latin typeface="Arial"/>
        <a:ea typeface="华文细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79200" tIns="39600" rIns="79200" bIns="39600" numCol="1" anchor="t" anchorCtr="0" compatLnSpc="1">
        <a:spAutoFit/>
      </a:bodyPr>
      <a:lstStyle>
        <a:defPPr marL="0" marR="0" indent="0" algn="l" defTabSz="80200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MS PGothic" panose="020B0600070205080204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79200" tIns="39600" rIns="79200" bIns="39600" numCol="1" anchor="t" anchorCtr="0" compatLnSpc="1">
        <a:spAutoFit/>
      </a:bodyPr>
      <a:lstStyle>
        <a:defPPr marL="0" marR="0" indent="0" algn="l" defTabSz="80200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MS PGothic" panose="020B0600070205080204" pitchFamily="34" charset="-128"/>
          </a:defRPr>
        </a:defPPr>
      </a:lstStyle>
    </a:lnDef>
  </a:objectDefaults>
  <a:extraClrSchemeLst>
    <a:extraClrScheme>
      <a:clrScheme name="default 1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FFCC99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7B95C"/>
        </a:accent6>
        <a:hlink>
          <a:srgbClr val="FF99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2">
        <a:dk1>
          <a:srgbClr val="000000"/>
        </a:dk1>
        <a:lt1>
          <a:srgbClr val="FFFFFF"/>
        </a:lt1>
        <a:dk2>
          <a:srgbClr val="990000"/>
        </a:dk2>
        <a:lt2>
          <a:srgbClr val="808080"/>
        </a:lt2>
        <a:accent1>
          <a:srgbClr val="CCFF99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FFCA"/>
        </a:accent5>
        <a:accent6>
          <a:srgbClr val="8AB9B9"/>
        </a:accent6>
        <a:hlink>
          <a:srgbClr val="0099CC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3">
        <a:dk1>
          <a:srgbClr val="000000"/>
        </a:dk1>
        <a:lt1>
          <a:srgbClr val="FFFFFF"/>
        </a:lt1>
        <a:dk2>
          <a:srgbClr val="990000"/>
        </a:dk2>
        <a:lt2>
          <a:srgbClr val="969696"/>
        </a:lt2>
        <a:accent1>
          <a:srgbClr val="DDDDDD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8AB9E7"/>
        </a:accent6>
        <a:hlink>
          <a:srgbClr val="99CCCC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4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99CCFF"/>
        </a:accent1>
        <a:accent2>
          <a:srgbClr val="669900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5C8A00"/>
        </a:accent6>
        <a:hlink>
          <a:srgbClr val="FF9900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5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6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7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8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9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0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1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2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3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End pag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4800" dirty="0" err="1" smtClean="0">
            <a:solidFill>
              <a:srgbClr val="000000"/>
            </a:solidFill>
            <a:latin typeface="Arial" panose="020B0604020202020204" pitchFamily="34" charset="0"/>
            <a:ea typeface="Microsoft YaHei" panose="020B0503020204020204" pitchFamily="34" charset="-122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151515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vert="horz" wrap="none" rtlCol="0">
        <a:spAutoFit/>
      </a:bodyPr>
      <a:lstStyle>
        <a:defPPr algn="l">
          <a:lnSpc>
            <a:spcPts val="3440"/>
          </a:lnSpc>
          <a:defRPr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6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1698</TotalTime>
  <Words>2173</Words>
  <Application>Microsoft Office PowerPoint</Application>
  <PresentationFormat>宽屏</PresentationFormat>
  <Paragraphs>147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10</vt:i4>
      </vt:variant>
    </vt:vector>
  </HeadingPairs>
  <TitlesOfParts>
    <vt:vector size="26" baseType="lpstr">
      <vt:lpstr>-apple-system</vt:lpstr>
      <vt:lpstr>Arial Unicode MS</vt:lpstr>
      <vt:lpstr>FrutigerNext LT Medium</vt:lpstr>
      <vt:lpstr>Microsoft YaHei</vt:lpstr>
      <vt:lpstr>SimSun</vt:lpstr>
      <vt:lpstr>Arial</vt:lpstr>
      <vt:lpstr>Calibri</vt:lpstr>
      <vt:lpstr>Calibri Light</vt:lpstr>
      <vt:lpstr>Consolas</vt:lpstr>
      <vt:lpstr>Wingdings</vt:lpstr>
      <vt:lpstr>2_default</vt:lpstr>
      <vt:lpstr>End page</vt:lpstr>
      <vt:lpstr>4_Chart page</vt:lpstr>
      <vt:lpstr>5_Chart page</vt:lpstr>
      <vt:lpstr>6_Chart page</vt:lpstr>
      <vt:lpstr>1_Title Slide</vt:lpstr>
      <vt:lpstr>JNI2AKI implementation</vt:lpstr>
      <vt:lpstr>Scenario- directly call</vt:lpstr>
      <vt:lpstr>Scenario - Callback 1</vt:lpstr>
      <vt:lpstr>Scenario - Callback2</vt:lpstr>
      <vt:lpstr>Scenario - Callback-Listener</vt:lpstr>
      <vt:lpstr>Scenario – reflection</vt:lpstr>
      <vt:lpstr>PowerPoint 演示文稿</vt:lpstr>
      <vt:lpstr>Scenario - class</vt:lpstr>
      <vt:lpstr>Scenario - enum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Report</dc:title>
  <dc:creator>Tony Chunxi Zhu</dc:creator>
  <cp:lastModifiedBy>Zhu Tony</cp:lastModifiedBy>
  <cp:revision>1356</cp:revision>
  <cp:lastPrinted>2022-06-08T02:22:00Z</cp:lastPrinted>
  <dcterms:created xsi:type="dcterms:W3CDTF">2020-09-02T13:20:00Z</dcterms:created>
  <dcterms:modified xsi:type="dcterms:W3CDTF">2023-08-21T19:05:06Z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readonly">
    <vt:lpwstr/>
  </property>
  <property fmtid="{D5CDD505-2E9C-101B-9397-08002B2CF9AE}" pid="3" name="_change">
    <vt:lpwstr/>
  </property>
  <property fmtid="{D5CDD505-2E9C-101B-9397-08002B2CF9AE}" pid="4" name="_full-control">
    <vt:lpwstr/>
  </property>
  <property fmtid="{D5CDD505-2E9C-101B-9397-08002B2CF9AE}" pid="5" name="sflag">
    <vt:lpwstr>1631991482</vt:lpwstr>
  </property>
  <property fmtid="{D5CDD505-2E9C-101B-9397-08002B2CF9AE}" pid="6" name="ICV">
    <vt:lpwstr>15287D53BF024025A80B3C788761ECB1_13</vt:lpwstr>
  </property>
  <property fmtid="{D5CDD505-2E9C-101B-9397-08002B2CF9AE}" pid="7" name="KSOProductBuildVer">
    <vt:lpwstr>2052-12.1.0.15120</vt:lpwstr>
  </property>
</Properties>
</file>